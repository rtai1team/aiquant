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  <p:sldMasterId id="2147483674" r:id="rId2"/>
    <p:sldMasterId id="2147483675" r:id="rId3"/>
    <p:sldMasterId id="2147483676" r:id="rId4"/>
  </p:sldMasterIdLst>
  <p:notesMasterIdLst>
    <p:notesMasterId r:id="rId6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</p:sldIdLst>
  <p:sldSz cx="18288000" cy="10287000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F7B708-E437-40BA-ADCD-BCB83132E3BD}">
  <a:tblStyle styleId="{BEF7B708-E437-40BA-ADCD-BCB83132E3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025454165_5_4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d025454165_5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025454165_5_7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d025454165_5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5da0c5056_7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c5da0c5056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5da0c5056_16_4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c5da0c5056_16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5da0c5056_16_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c5da0c5056_16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5da0c5056_16_7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c5da0c5056_16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5da0c5056_16_5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c5da0c5056_16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5da0c5056_10_7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c5da0c5056_1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5da0c5056_1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c5da0c5056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5da0c5056_16_1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3c5da0c5056_16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5da0c5056_16_1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c5da0c5056_16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5da0c5056_16_14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c5da0c5056_16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5da0c5056_16_16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c5da0c5056_16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5da0c5056_16_17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3c5da0c5056_16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5da0c5056_16_18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c5da0c5056_16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5da0c5056_16_20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3c5da0c5056_16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5da0c5056_16_8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c5da0c5056_16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c5da0c5056_16_9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c5da0c5056_16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5da0c5056_16_23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3c5da0c5056_16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c5da0c5056_16_7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3c5da0c5056_16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5da0c5056_16_2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c5da0c5056_16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c5da0c5056_16_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g3c5da0c5056_1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5da0c5056_10_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3c5da0c5056_1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c5da0c5056_3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7957" y="1336475"/>
            <a:ext cx="8063653" cy="360848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g3c5da0c5056_36_2:notes"/>
          <p:cNvSpPr txBox="1">
            <a:spLocks noGrp="1"/>
          </p:cNvSpPr>
          <p:nvPr>
            <p:ph type="body" idx="1"/>
          </p:nvPr>
        </p:nvSpPr>
        <p:spPr>
          <a:xfrm>
            <a:off x="1007957" y="5145429"/>
            <a:ext cx="8063653" cy="4209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463" name="Google Shape;463;g3c5da0c5056_36_2:notes"/>
          <p:cNvSpPr txBox="1">
            <a:spLocks noGrp="1"/>
          </p:cNvSpPr>
          <p:nvPr>
            <p:ph type="sldNum" idx="12"/>
          </p:nvPr>
        </p:nvSpPr>
        <p:spPr>
          <a:xfrm>
            <a:off x="5709422" y="10155354"/>
            <a:ext cx="4367812" cy="53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900"/>
              <a:t>29</a:t>
            </a:fld>
            <a:endParaRPr sz="19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c5da0c5056_4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7957" y="1336475"/>
            <a:ext cx="8063653" cy="360848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g3c5da0c5056_42_0:notes"/>
          <p:cNvSpPr txBox="1">
            <a:spLocks noGrp="1"/>
          </p:cNvSpPr>
          <p:nvPr>
            <p:ph type="body" idx="1"/>
          </p:nvPr>
        </p:nvSpPr>
        <p:spPr>
          <a:xfrm>
            <a:off x="1007957" y="5145429"/>
            <a:ext cx="8063653" cy="4209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491" name="Google Shape;491;g3c5da0c5056_42_0:notes"/>
          <p:cNvSpPr txBox="1">
            <a:spLocks noGrp="1"/>
          </p:cNvSpPr>
          <p:nvPr>
            <p:ph type="sldNum" idx="12"/>
          </p:nvPr>
        </p:nvSpPr>
        <p:spPr>
          <a:xfrm>
            <a:off x="5709422" y="10155354"/>
            <a:ext cx="4367812" cy="53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900"/>
              <a:t>30</a:t>
            </a:fld>
            <a:endParaRPr sz="19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c5da0c5056_16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7957" y="1336475"/>
            <a:ext cx="80637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3" name="Google Shape;543;g3c5da0c5056_16_397:notes"/>
          <p:cNvSpPr txBox="1">
            <a:spLocks noGrp="1"/>
          </p:cNvSpPr>
          <p:nvPr>
            <p:ph type="body" idx="1"/>
          </p:nvPr>
        </p:nvSpPr>
        <p:spPr>
          <a:xfrm>
            <a:off x="1007957" y="5145429"/>
            <a:ext cx="8063700" cy="4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544" name="Google Shape;544;g3c5da0c5056_16_397:notes"/>
          <p:cNvSpPr txBox="1">
            <a:spLocks noGrp="1"/>
          </p:cNvSpPr>
          <p:nvPr>
            <p:ph type="sldNum" idx="12"/>
          </p:nvPr>
        </p:nvSpPr>
        <p:spPr>
          <a:xfrm>
            <a:off x="5709422" y="10155354"/>
            <a:ext cx="43677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900"/>
              <a:t>31</a:t>
            </a:fld>
            <a:endParaRPr sz="19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c5da0c5056_4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7957" y="1336475"/>
            <a:ext cx="8063653" cy="360848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g3c5da0c5056_40_92:notes"/>
          <p:cNvSpPr txBox="1">
            <a:spLocks noGrp="1"/>
          </p:cNvSpPr>
          <p:nvPr>
            <p:ph type="body" idx="1"/>
          </p:nvPr>
        </p:nvSpPr>
        <p:spPr>
          <a:xfrm>
            <a:off x="1007957" y="5145429"/>
            <a:ext cx="8063653" cy="4209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574" name="Google Shape;574;g3c5da0c5056_40_92:notes"/>
          <p:cNvSpPr txBox="1">
            <a:spLocks noGrp="1"/>
          </p:cNvSpPr>
          <p:nvPr>
            <p:ph type="sldNum" idx="12"/>
          </p:nvPr>
        </p:nvSpPr>
        <p:spPr>
          <a:xfrm>
            <a:off x="5709422" y="10155354"/>
            <a:ext cx="4367812" cy="53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900"/>
              <a:t>32</a:t>
            </a:fld>
            <a:endParaRPr sz="19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c5da0c5056_4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7957" y="1336475"/>
            <a:ext cx="8063653" cy="360848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2" name="Google Shape;602;g3c5da0c5056_44_0:notes"/>
          <p:cNvSpPr txBox="1">
            <a:spLocks noGrp="1"/>
          </p:cNvSpPr>
          <p:nvPr>
            <p:ph type="body" idx="1"/>
          </p:nvPr>
        </p:nvSpPr>
        <p:spPr>
          <a:xfrm>
            <a:off x="1007957" y="5145429"/>
            <a:ext cx="8063653" cy="4209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603" name="Google Shape;603;g3c5da0c5056_44_0:notes"/>
          <p:cNvSpPr txBox="1">
            <a:spLocks noGrp="1"/>
          </p:cNvSpPr>
          <p:nvPr>
            <p:ph type="sldNum" idx="12"/>
          </p:nvPr>
        </p:nvSpPr>
        <p:spPr>
          <a:xfrm>
            <a:off x="5709422" y="10155354"/>
            <a:ext cx="4367812" cy="53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900"/>
              <a:t>33</a:t>
            </a:fld>
            <a:endParaRPr sz="19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c5da0c5056_16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7957" y="1336475"/>
            <a:ext cx="80637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g3c5da0c5056_16_529:notes"/>
          <p:cNvSpPr txBox="1">
            <a:spLocks noGrp="1"/>
          </p:cNvSpPr>
          <p:nvPr>
            <p:ph type="body" idx="1"/>
          </p:nvPr>
        </p:nvSpPr>
        <p:spPr>
          <a:xfrm>
            <a:off x="1007957" y="5145429"/>
            <a:ext cx="8063700" cy="4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627" name="Google Shape;627;g3c5da0c5056_16_529:notes"/>
          <p:cNvSpPr txBox="1">
            <a:spLocks noGrp="1"/>
          </p:cNvSpPr>
          <p:nvPr>
            <p:ph type="sldNum" idx="12"/>
          </p:nvPr>
        </p:nvSpPr>
        <p:spPr>
          <a:xfrm>
            <a:off x="5709422" y="10155354"/>
            <a:ext cx="43677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900"/>
              <a:t>34</a:t>
            </a:fld>
            <a:endParaRPr sz="19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c5da0c5056_16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7957" y="1336475"/>
            <a:ext cx="80637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" name="Google Shape;655;g3c5da0c5056_16_580:notes"/>
          <p:cNvSpPr txBox="1">
            <a:spLocks noGrp="1"/>
          </p:cNvSpPr>
          <p:nvPr>
            <p:ph type="body" idx="1"/>
          </p:nvPr>
        </p:nvSpPr>
        <p:spPr>
          <a:xfrm>
            <a:off x="1007957" y="5145429"/>
            <a:ext cx="8063700" cy="4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656" name="Google Shape;656;g3c5da0c5056_16_580:notes"/>
          <p:cNvSpPr txBox="1">
            <a:spLocks noGrp="1"/>
          </p:cNvSpPr>
          <p:nvPr>
            <p:ph type="sldNum" idx="12"/>
          </p:nvPr>
        </p:nvSpPr>
        <p:spPr>
          <a:xfrm>
            <a:off x="5709422" y="10155354"/>
            <a:ext cx="43677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900"/>
              <a:t>35</a:t>
            </a:fld>
            <a:endParaRPr sz="19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c5da0c5056_5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7957" y="1336475"/>
            <a:ext cx="8063653" cy="360848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4" name="Google Shape;684;g3c5da0c5056_53_0:notes"/>
          <p:cNvSpPr txBox="1">
            <a:spLocks noGrp="1"/>
          </p:cNvSpPr>
          <p:nvPr>
            <p:ph type="body" idx="1"/>
          </p:nvPr>
        </p:nvSpPr>
        <p:spPr>
          <a:xfrm>
            <a:off x="1007957" y="5145429"/>
            <a:ext cx="8063653" cy="4209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685" name="Google Shape;685;g3c5da0c5056_53_0:notes"/>
          <p:cNvSpPr txBox="1">
            <a:spLocks noGrp="1"/>
          </p:cNvSpPr>
          <p:nvPr>
            <p:ph type="sldNum" idx="12"/>
          </p:nvPr>
        </p:nvSpPr>
        <p:spPr>
          <a:xfrm>
            <a:off x="5709422" y="10155354"/>
            <a:ext cx="4367812" cy="53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900"/>
              <a:t>36</a:t>
            </a:fld>
            <a:endParaRPr sz="19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c5da0c5056_38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0" name="Google Shape;700;g3c5da0c5056_38_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1" name="Google Shape;701;g3c5da0c5056_38_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37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c5da0c5056_38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2" name="Google Shape;722;g3c5da0c5056_38_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3" name="Google Shape;723;g3c5da0c5056_38_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38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c5da0c5056_38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4" name="Google Shape;744;g3c5da0c5056_38_5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5" name="Google Shape;745;g3c5da0c5056_38_5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39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c5da0c5056_38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5" name="Google Shape;765;g3c5da0c5056_38_6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6" name="Google Shape;766;g3c5da0c5056_38_6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40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c5da0c5056_38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9" name="Google Shape;789;g3c5da0c5056_38_9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0" name="Google Shape;790;g3c5da0c5056_38_9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41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c5da0c5056_38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6" name="Google Shape;816;g3c5da0c5056_38_1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7" name="Google Shape;817;g3c5da0c5056_38_1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42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c5da0c5056_21_18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g3c5da0c5056_21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c5da0c5056_21_7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g3c5da0c5056_2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c5da0c5056_21_15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g3c5da0c5056_2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c5da0c5056_34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9" name="Google Shape;879;g3c5da0c5056_34_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0" name="Google Shape;880;g3c5da0c5056_34_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46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c5da0c5056_2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900" cy="3507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8" name="Google Shape;898;g3c5da0c5056_21_2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400" cy="3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9" name="Google Shape;899;g3c5da0c5056_21_2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400" cy="3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47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c5da0c5056_21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900" cy="3507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7" name="Google Shape;917;g3c5da0c5056_21_2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400" cy="3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8" name="Google Shape;918;g3c5da0c5056_21_2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400" cy="3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48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c5da0c5056_9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g3c5da0c5056_9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c5da0c5056_32_143:notes"/>
          <p:cNvSpPr txBox="1">
            <a:spLocks noGrp="1"/>
          </p:cNvSpPr>
          <p:nvPr>
            <p:ph type="body" idx="1"/>
          </p:nvPr>
        </p:nvSpPr>
        <p:spPr>
          <a:xfrm>
            <a:off x="755968" y="5078605"/>
            <a:ext cx="6047740" cy="4811310"/>
          </a:xfrm>
          <a:prstGeom prst="rect">
            <a:avLst/>
          </a:prstGeom>
        </p:spPr>
        <p:txBody>
          <a:bodyPr spcFirstLastPara="1" wrap="square" lIns="102825" tIns="102825" rIns="102825" bIns="102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g3c5da0c5056_32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9563" y="801885"/>
            <a:ext cx="5041293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c5da0c5056_32_176:notes"/>
          <p:cNvSpPr txBox="1">
            <a:spLocks noGrp="1"/>
          </p:cNvSpPr>
          <p:nvPr>
            <p:ph type="body" idx="1"/>
          </p:nvPr>
        </p:nvSpPr>
        <p:spPr>
          <a:xfrm>
            <a:off x="755968" y="5078605"/>
            <a:ext cx="6047740" cy="4811310"/>
          </a:xfrm>
          <a:prstGeom prst="rect">
            <a:avLst/>
          </a:prstGeom>
        </p:spPr>
        <p:txBody>
          <a:bodyPr spcFirstLastPara="1" wrap="square" lIns="102825" tIns="102825" rIns="102825" bIns="102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g3c5da0c5056_32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9563" y="801885"/>
            <a:ext cx="5041293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c5da0c5056_5_245:notes"/>
          <p:cNvSpPr txBox="1">
            <a:spLocks noGrp="1"/>
          </p:cNvSpPr>
          <p:nvPr>
            <p:ph type="body" idx="1"/>
          </p:nvPr>
        </p:nvSpPr>
        <p:spPr>
          <a:xfrm>
            <a:off x="755968" y="5078605"/>
            <a:ext cx="6047700" cy="4811400"/>
          </a:xfrm>
          <a:prstGeom prst="rect">
            <a:avLst/>
          </a:prstGeom>
        </p:spPr>
        <p:txBody>
          <a:bodyPr spcFirstLastPara="1" wrap="square" lIns="102825" tIns="102825" rIns="102825" bIns="102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g3c5da0c5056_5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9563" y="801885"/>
            <a:ext cx="50412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c5da0c5056_48_0:notes"/>
          <p:cNvSpPr txBox="1">
            <a:spLocks noGrp="1"/>
          </p:cNvSpPr>
          <p:nvPr>
            <p:ph type="body" idx="1"/>
          </p:nvPr>
        </p:nvSpPr>
        <p:spPr>
          <a:xfrm>
            <a:off x="755968" y="5078605"/>
            <a:ext cx="6047740" cy="4811310"/>
          </a:xfrm>
          <a:prstGeom prst="rect">
            <a:avLst/>
          </a:prstGeom>
        </p:spPr>
        <p:txBody>
          <a:bodyPr spcFirstLastPara="1" wrap="square" lIns="102825" tIns="102825" rIns="102825" bIns="102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g3c5da0c5056_4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9563" y="801885"/>
            <a:ext cx="5041293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c5da0c5056_3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2" name="Google Shape;1072;g3c5da0c5056_3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3" name="Google Shape;1073;g3c5da0c5056_3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54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c5da0c5056_2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4" name="Google Shape;1094;g3c5da0c5056_27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5" name="Google Shape;1095;g3c5da0c5056_27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55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c5da0c5056_27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5" name="Google Shape;1135;g3c5da0c5056_27_3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6" name="Google Shape;1136;g3c5da0c5056_27_3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56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3c5da0c5056_27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2" name="Google Shape;1182;g3c5da0c5056_27_8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3" name="Google Shape;1183;g3c5da0c5056_27_8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57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c5da0c5056_27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1" name="Google Shape;1221;g3c5da0c5056_27_1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2" name="Google Shape;1222;g3c5da0c5056_27_1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58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3c5da0c5056_27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1" name="Google Shape;1261;g3c5da0c5056_27_15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2" name="Google Shape;1262;g3c5da0c5056_27_15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59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c5da0c5056_4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9" name="Google Shape;1289;g3c5da0c5056_46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0" name="Google Shape;1290;g3c5da0c5056_46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60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c5da0c5056_46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1" name="Google Shape;1341;g3c5da0c5056_46_5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2" name="Google Shape;1342;g3c5da0c5056_46_5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61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3c5da0c5056_46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507808" cy="35078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3" name="Google Shape;1393;g3c5da0c5056_46_10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4" name="Google Shape;1394;g3c5da0c5056_46_10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409259" cy="3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225" tIns="62600" rIns="125225" bIns="62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62</a:t>
            </a:fld>
            <a:endParaRPr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3c5da0c5056_16_63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9" name="Google Shape;1449;g3c5da0c5056_16_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2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6" name="Google Shape;147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subTitle" idx="1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2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3"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3"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2"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2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3"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4"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4"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5"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6"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dt" idx="10"/>
          </p:nvPr>
        </p:nvSpPr>
        <p:spPr>
          <a:xfrm>
            <a:off x="685972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ftr" idx="11"/>
          </p:nvPr>
        </p:nvSpPr>
        <p:spPr>
          <a:xfrm>
            <a:off x="4687473" y="9534525"/>
            <a:ext cx="434448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9832260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ctrTitle"/>
          </p:nvPr>
        </p:nvSpPr>
        <p:spPr>
          <a:xfrm>
            <a:off x="1028957" y="3195638"/>
            <a:ext cx="11661517" cy="220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1"/>
          </p:nvPr>
        </p:nvSpPr>
        <p:spPr>
          <a:xfrm>
            <a:off x="2057915" y="5829300"/>
            <a:ext cx="9603602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dt" idx="10"/>
          </p:nvPr>
        </p:nvSpPr>
        <p:spPr>
          <a:xfrm>
            <a:off x="685972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ftr" idx="11"/>
          </p:nvPr>
        </p:nvSpPr>
        <p:spPr>
          <a:xfrm>
            <a:off x="4687473" y="9534525"/>
            <a:ext cx="434448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9832260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685972" y="411957"/>
            <a:ext cx="12347489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685972" y="2400300"/>
            <a:ext cx="12347489" cy="6788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L="457200" lvl="0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1pPr>
            <a:lvl2pPr marL="914400" lvl="1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2pPr>
            <a:lvl3pPr marL="1371600" lvl="2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3pPr>
            <a:lvl4pPr marL="1828800" lvl="3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4pPr>
            <a:lvl5pPr marL="2286000" lvl="4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/>
            </a:lvl5pPr>
            <a:lvl6pPr marL="2743200" lvl="5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6pPr>
            <a:lvl7pPr marL="3200400" lvl="6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7pPr>
            <a:lvl8pPr marL="3657600" lvl="7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8pPr>
            <a:lvl9pPr marL="4114800" lvl="8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dt" idx="10"/>
          </p:nvPr>
        </p:nvSpPr>
        <p:spPr>
          <a:xfrm>
            <a:off x="685972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ftr" idx="11"/>
          </p:nvPr>
        </p:nvSpPr>
        <p:spPr>
          <a:xfrm>
            <a:off x="4687473" y="9534525"/>
            <a:ext cx="434448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ldNum" idx="12"/>
          </p:nvPr>
        </p:nvSpPr>
        <p:spPr>
          <a:xfrm>
            <a:off x="9832260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1083741" y="6610350"/>
            <a:ext cx="11661517" cy="204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1"/>
          </p:nvPr>
        </p:nvSpPr>
        <p:spPr>
          <a:xfrm>
            <a:off x="1083741" y="4360070"/>
            <a:ext cx="11661517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dt" idx="10"/>
          </p:nvPr>
        </p:nvSpPr>
        <p:spPr>
          <a:xfrm>
            <a:off x="685972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ftr" idx="11"/>
          </p:nvPr>
        </p:nvSpPr>
        <p:spPr>
          <a:xfrm>
            <a:off x="4687473" y="9534525"/>
            <a:ext cx="434448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sldNum" idx="12"/>
          </p:nvPr>
        </p:nvSpPr>
        <p:spPr>
          <a:xfrm>
            <a:off x="9832260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>
            <a:spLocks noGrp="1"/>
          </p:cNvSpPr>
          <p:nvPr>
            <p:ph type="title"/>
          </p:nvPr>
        </p:nvSpPr>
        <p:spPr>
          <a:xfrm>
            <a:off x="685972" y="411957"/>
            <a:ext cx="12347489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1"/>
          </p:nvPr>
        </p:nvSpPr>
        <p:spPr>
          <a:xfrm>
            <a:off x="685972" y="2400300"/>
            <a:ext cx="6059416" cy="6788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L="457200" lvl="0" indent="-495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1pPr>
            <a:lvl2pPr marL="914400" lvl="1" indent="-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marL="1371600" lvl="2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marL="1828800" lvl="3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marL="2286000" lvl="4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marL="2743200" lvl="5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marL="3200400" lvl="6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marL="3657600" lvl="7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marL="4114800" lvl="8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2"/>
          </p:nvPr>
        </p:nvSpPr>
        <p:spPr>
          <a:xfrm>
            <a:off x="6974045" y="2400300"/>
            <a:ext cx="6059416" cy="6788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L="457200" lvl="0" indent="-495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1pPr>
            <a:lvl2pPr marL="914400" lvl="1" indent="-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marL="1371600" lvl="2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marL="1828800" lvl="3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marL="2286000" lvl="4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marL="2743200" lvl="5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marL="3200400" lvl="6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marL="3657600" lvl="7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marL="4114800" lvl="8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dt" idx="10"/>
          </p:nvPr>
        </p:nvSpPr>
        <p:spPr>
          <a:xfrm>
            <a:off x="685972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ftr" idx="11"/>
          </p:nvPr>
        </p:nvSpPr>
        <p:spPr>
          <a:xfrm>
            <a:off x="4687473" y="9534525"/>
            <a:ext cx="434448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sldNum" idx="12"/>
          </p:nvPr>
        </p:nvSpPr>
        <p:spPr>
          <a:xfrm>
            <a:off x="9832260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>
            <a:spLocks noGrp="1"/>
          </p:cNvSpPr>
          <p:nvPr>
            <p:ph type="title"/>
          </p:nvPr>
        </p:nvSpPr>
        <p:spPr>
          <a:xfrm>
            <a:off x="685972" y="411957"/>
            <a:ext cx="12347489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body" idx="1"/>
          </p:nvPr>
        </p:nvSpPr>
        <p:spPr>
          <a:xfrm>
            <a:off x="685972" y="2302670"/>
            <a:ext cx="6061798" cy="95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body" idx="2"/>
          </p:nvPr>
        </p:nvSpPr>
        <p:spPr>
          <a:xfrm>
            <a:off x="685972" y="3262313"/>
            <a:ext cx="6061798" cy="5926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L="457200" lvl="0" indent="-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marL="1828800" lvl="3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body" idx="3"/>
          </p:nvPr>
        </p:nvSpPr>
        <p:spPr>
          <a:xfrm>
            <a:off x="6969281" y="2302670"/>
            <a:ext cx="6064180" cy="95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4"/>
          </p:nvPr>
        </p:nvSpPr>
        <p:spPr>
          <a:xfrm>
            <a:off x="6969281" y="3262313"/>
            <a:ext cx="6064180" cy="5926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L="457200" lvl="0" indent="-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marL="1828800" lvl="3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dt" idx="10"/>
          </p:nvPr>
        </p:nvSpPr>
        <p:spPr>
          <a:xfrm>
            <a:off x="685972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ftr" idx="11"/>
          </p:nvPr>
        </p:nvSpPr>
        <p:spPr>
          <a:xfrm>
            <a:off x="4687473" y="9534525"/>
            <a:ext cx="434448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sldNum" idx="12"/>
          </p:nvPr>
        </p:nvSpPr>
        <p:spPr>
          <a:xfrm>
            <a:off x="9832260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>
            <a:spLocks noGrp="1"/>
          </p:cNvSpPr>
          <p:nvPr>
            <p:ph type="title"/>
          </p:nvPr>
        </p:nvSpPr>
        <p:spPr>
          <a:xfrm>
            <a:off x="685972" y="411957"/>
            <a:ext cx="12347489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dt" idx="10"/>
          </p:nvPr>
        </p:nvSpPr>
        <p:spPr>
          <a:xfrm>
            <a:off x="685972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ftr" idx="11"/>
          </p:nvPr>
        </p:nvSpPr>
        <p:spPr>
          <a:xfrm>
            <a:off x="4687473" y="9534525"/>
            <a:ext cx="434448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ldNum" idx="12"/>
          </p:nvPr>
        </p:nvSpPr>
        <p:spPr>
          <a:xfrm>
            <a:off x="9832260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>
            <a:spLocks noGrp="1"/>
          </p:cNvSpPr>
          <p:nvPr>
            <p:ph type="title"/>
          </p:nvPr>
        </p:nvSpPr>
        <p:spPr>
          <a:xfrm>
            <a:off x="685972" y="409575"/>
            <a:ext cx="4513599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1"/>
          </p:nvPr>
        </p:nvSpPr>
        <p:spPr>
          <a:xfrm>
            <a:off x="5363917" y="409575"/>
            <a:ext cx="7669544" cy="877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L="457200" lvl="0" indent="-533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marL="914400" lvl="1" indent="-495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marL="1371600" lvl="2" indent="-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marL="1828800" lvl="3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4pPr>
            <a:lvl5pPr marL="2286000" lvl="4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  <a:defRPr sz="3000"/>
            </a:lvl5pPr>
            <a:lvl6pPr marL="2743200" lvl="5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marL="3200400" lvl="6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marL="3657600" lvl="7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marL="4114800" lvl="8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2"/>
          </p:nvPr>
        </p:nvSpPr>
        <p:spPr>
          <a:xfrm>
            <a:off x="685972" y="2152650"/>
            <a:ext cx="4513599" cy="703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marL="3200400" lvl="6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marL="3657600" lvl="7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marL="4114800" lvl="8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dt" idx="10"/>
          </p:nvPr>
        </p:nvSpPr>
        <p:spPr>
          <a:xfrm>
            <a:off x="685972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ftr" idx="11"/>
          </p:nvPr>
        </p:nvSpPr>
        <p:spPr>
          <a:xfrm>
            <a:off x="4687473" y="9534525"/>
            <a:ext cx="434448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sldNum" idx="12"/>
          </p:nvPr>
        </p:nvSpPr>
        <p:spPr>
          <a:xfrm>
            <a:off x="9832260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>
            <a:spLocks noGrp="1"/>
          </p:cNvSpPr>
          <p:nvPr>
            <p:ph type="title"/>
          </p:nvPr>
        </p:nvSpPr>
        <p:spPr>
          <a:xfrm>
            <a:off x="2689105" y="7200900"/>
            <a:ext cx="8231659" cy="85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>
            <a:spLocks noGrp="1"/>
          </p:cNvSpPr>
          <p:nvPr>
            <p:ph type="pic" idx="2"/>
          </p:nvPr>
        </p:nvSpPr>
        <p:spPr>
          <a:xfrm>
            <a:off x="2689105" y="919163"/>
            <a:ext cx="8231659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5"/>
          <p:cNvSpPr txBox="1">
            <a:spLocks noGrp="1"/>
          </p:cNvSpPr>
          <p:nvPr>
            <p:ph type="body" idx="1"/>
          </p:nvPr>
        </p:nvSpPr>
        <p:spPr>
          <a:xfrm>
            <a:off x="2689105" y="8051007"/>
            <a:ext cx="8231659" cy="120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marL="3200400" lvl="6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marL="3657600" lvl="7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marL="4114800" lvl="8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dt" idx="10"/>
          </p:nvPr>
        </p:nvSpPr>
        <p:spPr>
          <a:xfrm>
            <a:off x="685972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ftr" idx="11"/>
          </p:nvPr>
        </p:nvSpPr>
        <p:spPr>
          <a:xfrm>
            <a:off x="4687473" y="9534525"/>
            <a:ext cx="434448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sldNum" idx="12"/>
          </p:nvPr>
        </p:nvSpPr>
        <p:spPr>
          <a:xfrm>
            <a:off x="9832260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>
            <a:spLocks noGrp="1"/>
          </p:cNvSpPr>
          <p:nvPr>
            <p:ph type="title"/>
          </p:nvPr>
        </p:nvSpPr>
        <p:spPr>
          <a:xfrm>
            <a:off x="685972" y="411957"/>
            <a:ext cx="12347489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1"/>
          </p:nvPr>
        </p:nvSpPr>
        <p:spPr>
          <a:xfrm rot="5400000">
            <a:off x="3465244" y="-378972"/>
            <a:ext cx="6788944" cy="12347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L="457200" lvl="0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1pPr>
            <a:lvl2pPr marL="914400" lvl="1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2pPr>
            <a:lvl3pPr marL="1371600" lvl="2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3pPr>
            <a:lvl4pPr marL="1828800" lvl="3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4pPr>
            <a:lvl5pPr marL="2286000" lvl="4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/>
            </a:lvl5pPr>
            <a:lvl6pPr marL="2743200" lvl="5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6pPr>
            <a:lvl7pPr marL="3200400" lvl="6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7pPr>
            <a:lvl8pPr marL="3657600" lvl="7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8pPr>
            <a:lvl9pPr marL="4114800" lvl="8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dt" idx="10"/>
          </p:nvPr>
        </p:nvSpPr>
        <p:spPr>
          <a:xfrm>
            <a:off x="685972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ftr" idx="11"/>
          </p:nvPr>
        </p:nvSpPr>
        <p:spPr>
          <a:xfrm>
            <a:off x="4687473" y="9534525"/>
            <a:ext cx="434448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sldNum" idx="12"/>
          </p:nvPr>
        </p:nvSpPr>
        <p:spPr>
          <a:xfrm>
            <a:off x="9832260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>
            <a:spLocks noGrp="1"/>
          </p:cNvSpPr>
          <p:nvPr>
            <p:ph type="title"/>
          </p:nvPr>
        </p:nvSpPr>
        <p:spPr>
          <a:xfrm rot="5400000">
            <a:off x="7101381" y="3257165"/>
            <a:ext cx="8777288" cy="308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body" idx="1"/>
          </p:nvPr>
        </p:nvSpPr>
        <p:spPr>
          <a:xfrm rot="5400000">
            <a:off x="813308" y="284621"/>
            <a:ext cx="8777288" cy="9031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L="457200" lvl="0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1pPr>
            <a:lvl2pPr marL="914400" lvl="1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2pPr>
            <a:lvl3pPr marL="1371600" lvl="2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3pPr>
            <a:lvl4pPr marL="1828800" lvl="3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4pPr>
            <a:lvl5pPr marL="2286000" lvl="4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/>
            </a:lvl5pPr>
            <a:lvl6pPr marL="2743200" lvl="5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6pPr>
            <a:lvl7pPr marL="3200400" lvl="6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7pPr>
            <a:lvl8pPr marL="3657600" lvl="7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8pPr>
            <a:lvl9pPr marL="4114800" lvl="8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dt" idx="10"/>
          </p:nvPr>
        </p:nvSpPr>
        <p:spPr>
          <a:xfrm>
            <a:off x="685972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ftr" idx="11"/>
          </p:nvPr>
        </p:nvSpPr>
        <p:spPr>
          <a:xfrm>
            <a:off x="4687473" y="9534525"/>
            <a:ext cx="434448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sldNum" idx="12"/>
          </p:nvPr>
        </p:nvSpPr>
        <p:spPr>
          <a:xfrm>
            <a:off x="9832260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4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685972" y="411957"/>
            <a:ext cx="12347489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sz="6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685972" y="2400300"/>
            <a:ext cx="12347489" cy="6788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L="457200" marR="0" lvl="0" indent="-533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953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–"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572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»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685972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687473" y="9534525"/>
            <a:ext cx="4344487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9832260" y="9534525"/>
            <a:ext cx="3201201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://app.py" TargetMode="Externa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4.png"/><Relationship Id="rId4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0" title="elf-moondance-ai-generated-8490532_1920.png"/>
          <p:cNvPicPr preferRelativeResize="0"/>
          <p:nvPr/>
        </p:nvPicPr>
        <p:blipFill rotWithShape="1">
          <a:blip r:embed="rId3">
            <a:alphaModFix/>
          </a:blip>
          <a:srcRect t="19963" b="19963"/>
          <a:stretch/>
        </p:blipFill>
        <p:spPr>
          <a:xfrm>
            <a:off x="10045800" y="1980911"/>
            <a:ext cx="10401480" cy="62485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0"/>
          <p:cNvSpPr txBox="1"/>
          <p:nvPr/>
        </p:nvSpPr>
        <p:spPr>
          <a:xfrm>
            <a:off x="1263603" y="2618136"/>
            <a:ext cx="92586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AI QUANT</a:t>
            </a:r>
            <a:endParaRPr sz="880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0"/>
          <p:cNvSpPr txBox="1"/>
          <p:nvPr/>
        </p:nvSpPr>
        <p:spPr>
          <a:xfrm>
            <a:off x="1320840" y="4084369"/>
            <a:ext cx="9144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국내 방산 주식을 더 빠르고 명확하게 읽어내기 위한 </a:t>
            </a:r>
            <a:br>
              <a:rPr lang="en-US" sz="2300">
                <a:solidFill>
                  <a:srgbClr val="1F2328"/>
                </a:solidFill>
              </a:rPr>
            </a:br>
            <a:r>
              <a:rPr lang="en-US" sz="2300">
                <a:solidFill>
                  <a:srgbClr val="1F2328"/>
                </a:solidFill>
              </a:rPr>
              <a:t>AI 기반 투자 대시보드</a:t>
            </a:r>
            <a:endParaRPr sz="590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0"/>
          <p:cNvSpPr txBox="1"/>
          <p:nvPr/>
        </p:nvSpPr>
        <p:spPr>
          <a:xfrm rot="10800000">
            <a:off x="787440" y="4876871"/>
            <a:ext cx="1219200" cy="14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1320840" y="5587936"/>
            <a:ext cx="3340080" cy="381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0"/>
          <p:cNvSpPr txBox="1"/>
          <p:nvPr/>
        </p:nvSpPr>
        <p:spPr>
          <a:xfrm>
            <a:off x="4935245" y="5391188"/>
            <a:ext cx="3848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과정 1팀</a:t>
            </a:r>
            <a:endParaRPr sz="2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0"/>
          <p:cNvSpPr txBox="1"/>
          <p:nvPr/>
        </p:nvSpPr>
        <p:spPr>
          <a:xfrm>
            <a:off x="1320852" y="6350050"/>
            <a:ext cx="6163200" cy="15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sz="2000">
                <a:solidFill>
                  <a:srgbClr val="1F2328"/>
                </a:solidFill>
              </a:rPr>
              <a:t>전일 방산 종목 시세, 관련 뉴스 수집, </a:t>
            </a:r>
            <a:br>
              <a:rPr lang="en-US" sz="2000">
                <a:solidFill>
                  <a:srgbClr val="1F2328"/>
                </a:solidFill>
              </a:rPr>
            </a:br>
            <a:r>
              <a:rPr lang="en-US" sz="2000">
                <a:solidFill>
                  <a:srgbClr val="1F2328"/>
                </a:solidFill>
              </a:rPr>
              <a:t>Gemini 기반 투자 매력도 분석, 전략 백테스트, </a:t>
            </a:r>
            <a:br>
              <a:rPr lang="en-US" sz="2000">
                <a:solidFill>
                  <a:srgbClr val="1F2328"/>
                </a:solidFill>
              </a:rPr>
            </a:br>
            <a:r>
              <a:rPr lang="en-US" sz="2000">
                <a:solidFill>
                  <a:srgbClr val="1F2328"/>
                </a:solidFill>
              </a:rPr>
              <a:t>모의투자 포트폴리오, 자동매매 배치까지 하나의 흐름으로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/>
        </p:nvSpPr>
        <p:spPr>
          <a:xfrm>
            <a:off x="5994360" y="9499680"/>
            <a:ext cx="6210360" cy="29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600">
                <a:solidFill>
                  <a:srgbClr val="656565"/>
                </a:solidFill>
              </a:rPr>
              <a:t>2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 txBox="1"/>
          <p:nvPr/>
        </p:nvSpPr>
        <p:spPr>
          <a:xfrm>
            <a:off x="6019920" y="927000"/>
            <a:ext cx="6248520" cy="58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</a:t>
            </a: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상황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 txBox="1"/>
          <p:nvPr/>
        </p:nvSpPr>
        <p:spPr>
          <a:xfrm>
            <a:off x="6032520" y="1498680"/>
            <a:ext cx="62229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주제 선정 이유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0650" y="1830500"/>
            <a:ext cx="5715120" cy="7680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67729" y="1901809"/>
            <a:ext cx="5715125" cy="7635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7080"/>
            <a:ext cx="12725280" cy="833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6225" y="2568100"/>
            <a:ext cx="9932826" cy="559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2"/>
          <p:cNvSpPr txBox="1"/>
          <p:nvPr/>
        </p:nvSpPr>
        <p:spPr>
          <a:xfrm>
            <a:off x="5994360" y="9499680"/>
            <a:ext cx="6210360" cy="29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600">
                <a:solidFill>
                  <a:srgbClr val="656565"/>
                </a:solidFill>
              </a:rPr>
              <a:t>3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>
            <a:off x="6019920" y="927000"/>
            <a:ext cx="6248520" cy="58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i="0" u="none" strike="noStrike" cap="none">
                <a:solidFill>
                  <a:srgbClr val="000000"/>
                </a:solidFill>
              </a:rPr>
              <a:t>AI QUANT</a:t>
            </a:r>
            <a:endParaRPr sz="3000" i="0" u="none" strike="noStrike" cap="none"/>
          </a:p>
        </p:txBody>
      </p:sp>
      <p:sp>
        <p:nvSpPr>
          <p:cNvPr id="166" name="Google Shape;166;p32"/>
          <p:cNvSpPr txBox="1"/>
          <p:nvPr/>
        </p:nvSpPr>
        <p:spPr>
          <a:xfrm>
            <a:off x="12433720" y="1458289"/>
            <a:ext cx="5410200" cy="6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rgbClr val="656565"/>
                </a:solidFill>
              </a:rPr>
              <a:t>방산 주식 대시보드</a:t>
            </a:r>
            <a:endParaRPr sz="2200" b="1">
              <a:solidFill>
                <a:srgbClr val="65656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656565"/>
                </a:solidFill>
              </a:rPr>
              <a:t>방산 종목, ETF, 뉴스 흐름을 한 화면에서 요약</a:t>
            </a:r>
            <a:endParaRPr sz="2000">
              <a:solidFill>
                <a:srgbClr val="65656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rgbClr val="656565"/>
                </a:solidFill>
              </a:rPr>
              <a:t>차트 및 데이터 분석</a:t>
            </a:r>
            <a:endParaRPr sz="2200" b="1">
              <a:solidFill>
                <a:srgbClr val="65656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656565"/>
                </a:solidFill>
              </a:rPr>
              <a:t>종목 OHLC 차트와 가격 흐름 시각화</a:t>
            </a:r>
            <a:endParaRPr sz="2000">
              <a:solidFill>
                <a:srgbClr val="65656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rgbClr val="656565"/>
                </a:solidFill>
              </a:rPr>
              <a:t>뉴스 기반 AI 분석</a:t>
            </a:r>
            <a:endParaRPr sz="2200" b="1">
              <a:solidFill>
                <a:srgbClr val="65656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656565"/>
                </a:solidFill>
              </a:rPr>
              <a:t>Gemini가 뉴스 맥락을 분석해 투자 매력도 점수 생성</a:t>
            </a:r>
            <a:endParaRPr sz="2000">
              <a:solidFill>
                <a:srgbClr val="65656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rgbClr val="656565"/>
                </a:solidFill>
              </a:rPr>
              <a:t>전략 백테스트</a:t>
            </a:r>
            <a:endParaRPr sz="2200" b="1">
              <a:solidFill>
                <a:srgbClr val="65656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656565"/>
                </a:solidFill>
              </a:rPr>
              <a:t>골든크로스, 20일 돌파 전략 성과 비교</a:t>
            </a:r>
            <a:endParaRPr sz="2000">
              <a:solidFill>
                <a:srgbClr val="65656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rgbClr val="656565"/>
                </a:solidFill>
              </a:rPr>
              <a:t>모의투자 및 자동매매</a:t>
            </a:r>
            <a:endParaRPr sz="2200" b="1">
              <a:solidFill>
                <a:srgbClr val="65656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656565"/>
                </a:solidFill>
              </a:rPr>
              <a:t>가상 계좌 기반 투자 실행 및 전략 신호 자동 거래</a:t>
            </a:r>
            <a:endParaRPr sz="2000">
              <a:solidFill>
                <a:srgbClr val="656565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endParaRPr sz="2200" b="1">
              <a:solidFill>
                <a:srgbClr val="65656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/>
        </p:nvSpPr>
        <p:spPr>
          <a:xfrm>
            <a:off x="-1289901" y="394478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기술 스택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33" title="Untitled-2026-03-15-21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6272" y="265872"/>
            <a:ext cx="12111501" cy="985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/>
        </p:nvSpPr>
        <p:spPr>
          <a:xfrm>
            <a:off x="-975246" y="418678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서비스 아키텍처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34" title="Untitled-2026-03-15-21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363" y="1784778"/>
            <a:ext cx="13249275" cy="715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4"/>
          <p:cNvSpPr txBox="1"/>
          <p:nvPr/>
        </p:nvSpPr>
        <p:spPr>
          <a:xfrm>
            <a:off x="14800816" y="9909400"/>
            <a:ext cx="343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98989"/>
                </a:solidFill>
              </a:rPr>
              <a:t>이 커버는 Flaticon.com의 자료를 사용해 디자인되었습니다</a:t>
            </a:r>
            <a:endParaRPr sz="10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/>
          <p:nvPr/>
        </p:nvSpPr>
        <p:spPr>
          <a:xfrm>
            <a:off x="-975246" y="418678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데이터 베이스 구성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35" title="mermaid-diagram-2026-03-16-1144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900" y="1003078"/>
            <a:ext cx="15095045" cy="8601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/>
        </p:nvSpPr>
        <p:spPr>
          <a:xfrm>
            <a:off x="395651" y="418675"/>
            <a:ext cx="4877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데이터 베이스(사용자 영역)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2520" y="630052"/>
            <a:ext cx="6166051" cy="366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0574" y="5001434"/>
            <a:ext cx="6086853" cy="31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27026" y="5001434"/>
            <a:ext cx="5957074" cy="5085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69116" y="817945"/>
            <a:ext cx="5837783" cy="3175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8000" y="5001434"/>
            <a:ext cx="5795775" cy="46129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36"/>
          <p:cNvCxnSpPr/>
          <p:nvPr/>
        </p:nvCxnSpPr>
        <p:spPr>
          <a:xfrm flipH="1">
            <a:off x="474177" y="4589227"/>
            <a:ext cx="17239200" cy="23400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/>
        </p:nvSpPr>
        <p:spPr>
          <a:xfrm>
            <a:off x="395650" y="418675"/>
            <a:ext cx="6252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데이터 베이스(주식 데이터 영역)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200" y="647700"/>
            <a:ext cx="6943725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3775" y="4162425"/>
            <a:ext cx="6819900" cy="597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86313" y="4162425"/>
            <a:ext cx="6770929" cy="53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/>
        </p:nvSpPr>
        <p:spPr>
          <a:xfrm>
            <a:off x="444500" y="1102500"/>
            <a:ext cx="6252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데이터 베이스(주식 데이터 영역)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7025" y="2985475"/>
            <a:ext cx="6772275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7650" y="2985475"/>
            <a:ext cx="6257925" cy="55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/>
        </p:nvSpPr>
        <p:spPr>
          <a:xfrm>
            <a:off x="395650" y="687325"/>
            <a:ext cx="6252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데이터 베이스(</a:t>
            </a:r>
            <a:r>
              <a:rPr lang="en-US" sz="3000">
                <a:solidFill>
                  <a:schemeClr val="dk1"/>
                </a:solidFill>
              </a:rPr>
              <a:t>뉴스 분석 영역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938" y="2409825"/>
            <a:ext cx="6743700" cy="546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20325" y="2409825"/>
            <a:ext cx="7324725" cy="38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/>
          <p:nvPr/>
        </p:nvSpPr>
        <p:spPr>
          <a:xfrm>
            <a:off x="-1050975" y="639100"/>
            <a:ext cx="6252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데이터 베이스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40" title="mermaid-diagram-2026-03-16-1631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700" y="2918950"/>
            <a:ext cx="17983201" cy="40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647" y="2181026"/>
            <a:ext cx="14385692" cy="681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41"/>
          <p:cNvSpPr txBox="1"/>
          <p:nvPr/>
        </p:nvSpPr>
        <p:spPr>
          <a:xfrm>
            <a:off x="5994360" y="9499680"/>
            <a:ext cx="62103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>
                <a:solidFill>
                  <a:srgbClr val="656565"/>
                </a:solidFill>
              </a:rPr>
              <a:t>2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1"/>
          <p:cNvSpPr txBox="1"/>
          <p:nvPr/>
        </p:nvSpPr>
        <p:spPr>
          <a:xfrm>
            <a:off x="6019920" y="92700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lang="en-US" sz="3000"/>
              <a:t>메인 페이지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8650" y="1611530"/>
            <a:ext cx="812880" cy="736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">
            <a:off x="2184120" y="6616440"/>
            <a:ext cx="888840" cy="16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13778290" y="8763120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1"/>
          <p:cNvSpPr txBox="1"/>
          <p:nvPr/>
        </p:nvSpPr>
        <p:spPr>
          <a:xfrm>
            <a:off x="3996297" y="1503947"/>
            <a:ext cx="1600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네비게이션 바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78290" y="1611529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1"/>
          <p:cNvSpPr txBox="1"/>
          <p:nvPr/>
        </p:nvSpPr>
        <p:spPr>
          <a:xfrm>
            <a:off x="16360219" y="1503952"/>
            <a:ext cx="1524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유저 프로필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1"/>
          <p:cNvSpPr txBox="1"/>
          <p:nvPr/>
        </p:nvSpPr>
        <p:spPr>
          <a:xfrm>
            <a:off x="14210938" y="9380484"/>
            <a:ext cx="2146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전일 거래 내역</a:t>
            </a:r>
            <a:endParaRPr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96379" y="1634569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1"/>
          <p:cNvSpPr txBox="1"/>
          <p:nvPr/>
        </p:nvSpPr>
        <p:spPr>
          <a:xfrm>
            <a:off x="13778309" y="1526992"/>
            <a:ext cx="1524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주식 검색창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15886740" y="4107070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1"/>
          <p:cNvSpPr txBox="1"/>
          <p:nvPr/>
        </p:nvSpPr>
        <p:spPr>
          <a:xfrm>
            <a:off x="16294828" y="4689960"/>
            <a:ext cx="2146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AI 뉴스 분석</a:t>
            </a:r>
            <a:endParaRPr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1264790" y="4275395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1"/>
          <p:cNvSpPr txBox="1"/>
          <p:nvPr/>
        </p:nvSpPr>
        <p:spPr>
          <a:xfrm>
            <a:off x="213722" y="5149192"/>
            <a:ext cx="2146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전일 기준</a:t>
            </a:r>
            <a:endParaRPr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등락율 순위</a:t>
            </a:r>
            <a:endParaRPr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/>
          <p:nvPr/>
        </p:nvSpPr>
        <p:spPr>
          <a:xfrm>
            <a:off x="5994360" y="9499680"/>
            <a:ext cx="62103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>
                <a:solidFill>
                  <a:srgbClr val="656565"/>
                </a:solidFill>
              </a:rPr>
              <a:t>3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2"/>
          <p:cNvSpPr txBox="1"/>
          <p:nvPr/>
        </p:nvSpPr>
        <p:spPr>
          <a:xfrm>
            <a:off x="6019795" y="581875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lang="en-US" sz="3000"/>
              <a:t>종목 리스트 페이지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0000">
            <a:off x="2184120" y="6616440"/>
            <a:ext cx="888840" cy="16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2750" y="1704413"/>
            <a:ext cx="14318500" cy="72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94129" y="2489369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2"/>
          <p:cNvSpPr txBox="1"/>
          <p:nvPr/>
        </p:nvSpPr>
        <p:spPr>
          <a:xfrm>
            <a:off x="10876059" y="2381792"/>
            <a:ext cx="1524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정렬 토글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3562475" y="3931705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2"/>
          <p:cNvSpPr txBox="1"/>
          <p:nvPr/>
        </p:nvSpPr>
        <p:spPr>
          <a:xfrm>
            <a:off x="1934301" y="3601650"/>
            <a:ext cx="2221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주식 목록(기본 거래대금 순)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/>
        </p:nvSpPr>
        <p:spPr>
          <a:xfrm>
            <a:off x="6020103" y="9499680"/>
            <a:ext cx="62103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>
                <a:solidFill>
                  <a:srgbClr val="656565"/>
                </a:solidFill>
              </a:rPr>
              <a:t>4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3"/>
          <p:cNvSpPr txBox="1"/>
          <p:nvPr/>
        </p:nvSpPr>
        <p:spPr>
          <a:xfrm>
            <a:off x="6019795" y="526675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lang="en-US" sz="3000"/>
              <a:t>종목 세부 페이지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0000">
            <a:off x="2184120" y="6616440"/>
            <a:ext cx="888840" cy="16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9559" y="1219925"/>
            <a:ext cx="14908867" cy="7563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061375" y="1716318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3"/>
          <p:cNvSpPr txBox="1"/>
          <p:nvPr/>
        </p:nvSpPr>
        <p:spPr>
          <a:xfrm>
            <a:off x="573161" y="1386250"/>
            <a:ext cx="2221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종목 선택 토글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/>
        </p:nvSpPr>
        <p:spPr>
          <a:xfrm>
            <a:off x="5994360" y="9499680"/>
            <a:ext cx="62103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>
                <a:solidFill>
                  <a:srgbClr val="656565"/>
                </a:solidFill>
              </a:rPr>
              <a:t>5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4"/>
          <p:cNvSpPr txBox="1"/>
          <p:nvPr/>
        </p:nvSpPr>
        <p:spPr>
          <a:xfrm>
            <a:off x="6019795" y="526675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lang="en-US" sz="3000"/>
              <a:t>종목 세부 페이지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0000">
            <a:off x="2184120" y="6616440"/>
            <a:ext cx="888840" cy="16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9559" y="1219925"/>
            <a:ext cx="14908867" cy="7563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866000" y="2302468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4"/>
          <p:cNvSpPr txBox="1"/>
          <p:nvPr/>
        </p:nvSpPr>
        <p:spPr>
          <a:xfrm>
            <a:off x="377786" y="1972400"/>
            <a:ext cx="2221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전략 선택 가능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9550" y="2603975"/>
            <a:ext cx="61722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/>
        </p:nvSpPr>
        <p:spPr>
          <a:xfrm>
            <a:off x="5994360" y="9499680"/>
            <a:ext cx="62103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>
                <a:solidFill>
                  <a:srgbClr val="656565"/>
                </a:solidFill>
              </a:rPr>
              <a:t>6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5"/>
          <p:cNvSpPr txBox="1"/>
          <p:nvPr/>
        </p:nvSpPr>
        <p:spPr>
          <a:xfrm>
            <a:off x="6019795" y="526675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lang="en-US" sz="3000"/>
              <a:t>종목 세부 페이지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0000">
            <a:off x="2184120" y="6616440"/>
            <a:ext cx="888840" cy="16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9559" y="1219925"/>
            <a:ext cx="14908867" cy="7563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817150" y="5459743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5"/>
          <p:cNvSpPr txBox="1"/>
          <p:nvPr/>
        </p:nvSpPr>
        <p:spPr>
          <a:xfrm>
            <a:off x="353350" y="4875500"/>
            <a:ext cx="2221200" cy="10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선택한 전략에 따른</a:t>
            </a:r>
            <a:endParaRPr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분석 결과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3550" y="2762535"/>
            <a:ext cx="10733649" cy="558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/>
        </p:nvSpPr>
        <p:spPr>
          <a:xfrm>
            <a:off x="5994360" y="9499680"/>
            <a:ext cx="62103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>
                <a:solidFill>
                  <a:srgbClr val="656565"/>
                </a:solidFill>
              </a:rPr>
              <a:t>7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6"/>
          <p:cNvSpPr txBox="1"/>
          <p:nvPr/>
        </p:nvSpPr>
        <p:spPr>
          <a:xfrm>
            <a:off x="6019795" y="526675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lang="en-US" sz="3000"/>
              <a:t>종목 세부 페이지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0000">
            <a:off x="2184120" y="6616440"/>
            <a:ext cx="888840" cy="16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9559" y="1219925"/>
            <a:ext cx="14908867" cy="7563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13517150" y="8505143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6"/>
          <p:cNvSpPr txBox="1"/>
          <p:nvPr/>
        </p:nvSpPr>
        <p:spPr>
          <a:xfrm>
            <a:off x="12076413" y="9103150"/>
            <a:ext cx="2221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종목별 커뮤니티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014150" y="1850317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6"/>
          <p:cNvSpPr txBox="1"/>
          <p:nvPr/>
        </p:nvSpPr>
        <p:spPr>
          <a:xfrm>
            <a:off x="16939530" y="1672265"/>
            <a:ext cx="2221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종목별 </a:t>
            </a:r>
            <a:endParaRPr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AI 분석 결과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/>
          <p:nvPr/>
        </p:nvSpPr>
        <p:spPr>
          <a:xfrm>
            <a:off x="5994360" y="9499680"/>
            <a:ext cx="62103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>
                <a:solidFill>
                  <a:srgbClr val="656565"/>
                </a:solidFill>
              </a:rPr>
              <a:t>8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7"/>
          <p:cNvSpPr txBox="1"/>
          <p:nvPr/>
        </p:nvSpPr>
        <p:spPr>
          <a:xfrm>
            <a:off x="6019795" y="526675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lang="en-US" sz="3000"/>
              <a:t>종목 세부 페이지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0000">
            <a:off x="2184120" y="6616440"/>
            <a:ext cx="888840" cy="16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9559" y="1219925"/>
            <a:ext cx="14908867" cy="7563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014150" y="1850317"/>
            <a:ext cx="812880" cy="736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45424" y="1752628"/>
            <a:ext cx="4181600" cy="7048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014150" y="1850317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7"/>
          <p:cNvSpPr txBox="1"/>
          <p:nvPr/>
        </p:nvSpPr>
        <p:spPr>
          <a:xfrm>
            <a:off x="16949128" y="1752633"/>
            <a:ext cx="2221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모의투자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8"/>
          <p:cNvSpPr txBox="1"/>
          <p:nvPr/>
        </p:nvSpPr>
        <p:spPr>
          <a:xfrm>
            <a:off x="6020103" y="9499680"/>
            <a:ext cx="62103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>
                <a:solidFill>
                  <a:srgbClr val="656565"/>
                </a:solidFill>
              </a:rPr>
              <a:t>9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8"/>
          <p:cNvSpPr txBox="1"/>
          <p:nvPr/>
        </p:nvSpPr>
        <p:spPr>
          <a:xfrm>
            <a:off x="6019920" y="92700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[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>
                <a:solidFill>
                  <a:schemeClr val="dk1"/>
                </a:solidFill>
              </a:rPr>
              <a:t>] </a:t>
            </a:r>
            <a:r>
              <a:rPr lang="en-US" sz="3000"/>
              <a:t>포트폴리오 페이지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7196" y="1639621"/>
            <a:ext cx="9021607" cy="74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286950" y="1639968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8"/>
          <p:cNvSpPr txBox="1"/>
          <p:nvPr/>
        </p:nvSpPr>
        <p:spPr>
          <a:xfrm>
            <a:off x="3798736" y="1309900"/>
            <a:ext cx="2221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총 평가 자산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 flipH="1">
            <a:off x="13817800" y="2305268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8"/>
          <p:cNvSpPr txBox="1"/>
          <p:nvPr/>
        </p:nvSpPr>
        <p:spPr>
          <a:xfrm>
            <a:off x="13988811" y="1975200"/>
            <a:ext cx="2221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포트폴리오 비중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286950" y="4576593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8"/>
          <p:cNvSpPr txBox="1"/>
          <p:nvPr/>
        </p:nvSpPr>
        <p:spPr>
          <a:xfrm>
            <a:off x="3798736" y="4246525"/>
            <a:ext cx="2221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전략 별 보유 종목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6175" y="3763975"/>
            <a:ext cx="9727274" cy="309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 flipH="1">
            <a:off x="13884225" y="7300568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8"/>
          <p:cNvSpPr txBox="1"/>
          <p:nvPr/>
        </p:nvSpPr>
        <p:spPr>
          <a:xfrm>
            <a:off x="14264786" y="6970500"/>
            <a:ext cx="2221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거래 내역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500" y="1584416"/>
            <a:ext cx="15027248" cy="711816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9"/>
          <p:cNvSpPr txBox="1"/>
          <p:nvPr/>
        </p:nvSpPr>
        <p:spPr>
          <a:xfrm>
            <a:off x="5994360" y="9499680"/>
            <a:ext cx="62103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56565"/>
                </a:solidFill>
              </a:rPr>
              <a:t>20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9"/>
          <p:cNvSpPr txBox="1"/>
          <p:nvPr/>
        </p:nvSpPr>
        <p:spPr>
          <a:xfrm>
            <a:off x="6019920" y="92700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[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>
                <a:solidFill>
                  <a:schemeClr val="dk1"/>
                </a:solidFill>
              </a:rPr>
              <a:t>] </a:t>
            </a:r>
            <a:r>
              <a:rPr lang="en-US" sz="3000"/>
              <a:t>뉴스 페이지</a:t>
            </a:r>
            <a:endParaRPr sz="3000"/>
          </a:p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pic>
        <p:nvPicPr>
          <p:cNvPr id="336" name="Google Shape;33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5680" y="4013280"/>
            <a:ext cx="888840" cy="16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13494474" y="5647767"/>
            <a:ext cx="775600" cy="702782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9"/>
          <p:cNvSpPr txBox="1"/>
          <p:nvPr/>
        </p:nvSpPr>
        <p:spPr>
          <a:xfrm>
            <a:off x="14406654" y="5404963"/>
            <a:ext cx="14541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리스트 뉴스</a:t>
            </a:r>
            <a:endParaRPr sz="1431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(조회수+관련도 순)</a:t>
            </a:r>
            <a:endParaRPr sz="1431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70104" y="2201300"/>
            <a:ext cx="775608" cy="70278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9"/>
          <p:cNvSpPr/>
          <p:nvPr/>
        </p:nvSpPr>
        <p:spPr>
          <a:xfrm>
            <a:off x="14316710" y="8132926"/>
            <a:ext cx="3137100" cy="1544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325" tIns="112325" rIns="112325" bIns="112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20"/>
          </a:p>
        </p:txBody>
      </p:sp>
      <p:sp>
        <p:nvSpPr>
          <p:cNvPr id="341" name="Google Shape;341;p49"/>
          <p:cNvSpPr txBox="1"/>
          <p:nvPr/>
        </p:nvSpPr>
        <p:spPr>
          <a:xfrm>
            <a:off x="10137398" y="2076246"/>
            <a:ext cx="14541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TOP3 카드뉴스</a:t>
            </a:r>
            <a:endParaRPr sz="1431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9"/>
          <p:cNvSpPr/>
          <p:nvPr/>
        </p:nvSpPr>
        <p:spPr>
          <a:xfrm>
            <a:off x="8181575" y="8253075"/>
            <a:ext cx="1925100" cy="1058700"/>
          </a:xfrm>
          <a:prstGeom prst="ellipse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3" name="Google Shape;343;p49"/>
          <p:cNvCxnSpPr>
            <a:stCxn id="342" idx="6"/>
            <a:endCxn id="344" idx="1"/>
          </p:cNvCxnSpPr>
          <p:nvPr/>
        </p:nvCxnSpPr>
        <p:spPr>
          <a:xfrm>
            <a:off x="10106675" y="8782425"/>
            <a:ext cx="4209900" cy="12300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44" name="Google Shape;344;p49"/>
          <p:cNvPicPr preferRelativeResize="0"/>
          <p:nvPr/>
        </p:nvPicPr>
        <p:blipFill rotWithShape="1">
          <a:blip r:embed="rId7">
            <a:alphaModFix/>
          </a:blip>
          <a:srcRect l="9240" r="6987"/>
          <a:stretch/>
        </p:blipFill>
        <p:spPr>
          <a:xfrm>
            <a:off x="14316710" y="8132926"/>
            <a:ext cx="3137100" cy="1544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/>
        </p:nvSpPr>
        <p:spPr>
          <a:xfrm>
            <a:off x="6020103" y="9499680"/>
            <a:ext cx="62103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56565"/>
                </a:solidFill>
              </a:rPr>
              <a:t>21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0"/>
          <p:cNvSpPr txBox="1"/>
          <p:nvPr/>
        </p:nvSpPr>
        <p:spPr>
          <a:xfrm>
            <a:off x="6019920" y="92700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[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>
                <a:solidFill>
                  <a:schemeClr val="dk1"/>
                </a:solidFill>
              </a:rPr>
              <a:t>] </a:t>
            </a:r>
            <a:r>
              <a:rPr lang="en-US" sz="3000"/>
              <a:t>랭크 페이지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720" y="2222640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50"/>
          <p:cNvSpPr txBox="1"/>
          <p:nvPr/>
        </p:nvSpPr>
        <p:spPr>
          <a:xfrm>
            <a:off x="10490040" y="2006640"/>
            <a:ext cx="20700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음식점</a:t>
            </a:r>
            <a:r>
              <a:rPr lang="en-US" sz="15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lang="en-US" sz="15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놀거리에</a:t>
            </a:r>
            <a:r>
              <a:rPr lang="en-US" sz="15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lang="en-US" sz="15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lang="en-US" sz="15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공유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14630400" y="5486400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0"/>
          <p:cNvSpPr txBox="1"/>
          <p:nvPr/>
        </p:nvSpPr>
        <p:spPr>
          <a:xfrm>
            <a:off x="15430680" y="5981760"/>
            <a:ext cx="13083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사용자가</a:t>
            </a:r>
            <a:r>
              <a:rPr lang="en-US" sz="15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직접</a:t>
            </a:r>
            <a:r>
              <a:rPr lang="en-US" sz="15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lang="en-US" sz="15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등록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1729" y="1779988"/>
            <a:ext cx="15764782" cy="7451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2035" y="2976348"/>
            <a:ext cx="775608" cy="702788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0"/>
          <p:cNvSpPr txBox="1"/>
          <p:nvPr/>
        </p:nvSpPr>
        <p:spPr>
          <a:xfrm>
            <a:off x="12110248" y="2851294"/>
            <a:ext cx="14541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랭킹 TOP3 </a:t>
            </a:r>
            <a:endParaRPr sz="1431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64346" y="5688755"/>
            <a:ext cx="775608" cy="702788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0"/>
          <p:cNvSpPr txBox="1"/>
          <p:nvPr/>
        </p:nvSpPr>
        <p:spPr>
          <a:xfrm>
            <a:off x="13131653" y="5563700"/>
            <a:ext cx="20700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랭킹 4위부터 리스트</a:t>
            </a:r>
            <a:endParaRPr sz="1431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1"/>
          <p:cNvSpPr txBox="1"/>
          <p:nvPr/>
        </p:nvSpPr>
        <p:spPr>
          <a:xfrm>
            <a:off x="6019920" y="92700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[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>
                <a:solidFill>
                  <a:schemeClr val="dk1"/>
                </a:solidFill>
              </a:rPr>
              <a:t>] </a:t>
            </a:r>
            <a:r>
              <a:rPr lang="en-US" sz="3000"/>
              <a:t>프로필 페이지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p51" title="스크린샷 2026-03-16 1609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057" y="1511400"/>
            <a:ext cx="5714880" cy="8103188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1"/>
          <p:cNvSpPr/>
          <p:nvPr/>
        </p:nvSpPr>
        <p:spPr>
          <a:xfrm>
            <a:off x="8141975" y="3097525"/>
            <a:ext cx="1047900" cy="1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7" name="Google Shape;36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4645" y="1511400"/>
            <a:ext cx="41529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94610" y="1509498"/>
            <a:ext cx="775608" cy="70278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1"/>
          <p:cNvSpPr txBox="1"/>
          <p:nvPr/>
        </p:nvSpPr>
        <p:spPr>
          <a:xfrm>
            <a:off x="10502823" y="1384444"/>
            <a:ext cx="14541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프로필 아이콘</a:t>
            </a:r>
            <a:endParaRPr sz="1431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5522660" y="4576548"/>
            <a:ext cx="775608" cy="7027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1"/>
          <p:cNvSpPr txBox="1"/>
          <p:nvPr/>
        </p:nvSpPr>
        <p:spPr>
          <a:xfrm>
            <a:off x="5130725" y="4079625"/>
            <a:ext cx="13590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닉네임,</a:t>
            </a:r>
            <a:endParaRPr sz="1431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비밀번호 변경</a:t>
            </a:r>
            <a:endParaRPr sz="1431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 flipH="1">
            <a:off x="11703250" y="7278693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1"/>
          <p:cNvSpPr txBox="1"/>
          <p:nvPr/>
        </p:nvSpPr>
        <p:spPr>
          <a:xfrm>
            <a:off x="11874261" y="6948625"/>
            <a:ext cx="2221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로그아웃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5522660" y="8550348"/>
            <a:ext cx="775608" cy="702788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1"/>
          <p:cNvSpPr txBox="1"/>
          <p:nvPr/>
        </p:nvSpPr>
        <p:spPr>
          <a:xfrm>
            <a:off x="5264075" y="8222025"/>
            <a:ext cx="1359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회원 탈퇴</a:t>
            </a:r>
            <a:endParaRPr sz="1431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"/>
          <p:cNvSpPr txBox="1"/>
          <p:nvPr/>
        </p:nvSpPr>
        <p:spPr>
          <a:xfrm>
            <a:off x="5994360" y="9499680"/>
            <a:ext cx="6210360" cy="29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56565"/>
                </a:solidFill>
              </a:rPr>
              <a:t>23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2"/>
          <p:cNvSpPr txBox="1"/>
          <p:nvPr/>
        </p:nvSpPr>
        <p:spPr>
          <a:xfrm>
            <a:off x="6019920" y="927000"/>
            <a:ext cx="6248520" cy="58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시연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3"/>
          <p:cNvSpPr txBox="1"/>
          <p:nvPr/>
        </p:nvSpPr>
        <p:spPr>
          <a:xfrm>
            <a:off x="5994360" y="9499680"/>
            <a:ext cx="62103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56565"/>
                </a:solidFill>
              </a:rPr>
              <a:t>24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3"/>
          <p:cNvSpPr txBox="1"/>
          <p:nvPr/>
        </p:nvSpPr>
        <p:spPr>
          <a:xfrm>
            <a:off x="6019920" y="92700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업무 분담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3"/>
          <p:cNvSpPr/>
          <p:nvPr/>
        </p:nvSpPr>
        <p:spPr>
          <a:xfrm>
            <a:off x="996350" y="2117825"/>
            <a:ext cx="5004000" cy="584400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53"/>
          <p:cNvSpPr/>
          <p:nvPr/>
        </p:nvSpPr>
        <p:spPr>
          <a:xfrm>
            <a:off x="996350" y="2117825"/>
            <a:ext cx="78600" cy="58440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53"/>
          <p:cNvSpPr/>
          <p:nvPr/>
        </p:nvSpPr>
        <p:spPr>
          <a:xfrm>
            <a:off x="1179750" y="2209275"/>
            <a:ext cx="4360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황수연(팀장)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53"/>
          <p:cNvSpPr/>
          <p:nvPr/>
        </p:nvSpPr>
        <p:spPr>
          <a:xfrm>
            <a:off x="1179750" y="2711226"/>
            <a:ext cx="4768200" cy="18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프로젝트 세팅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홈 화면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캔들/라인 차트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매크로 컴포넌트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53"/>
          <p:cNvSpPr/>
          <p:nvPr/>
        </p:nvSpPr>
        <p:spPr>
          <a:xfrm>
            <a:off x="6585150" y="2117825"/>
            <a:ext cx="5004000" cy="584400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53"/>
          <p:cNvSpPr/>
          <p:nvPr/>
        </p:nvSpPr>
        <p:spPr>
          <a:xfrm>
            <a:off x="6585150" y="2117825"/>
            <a:ext cx="78600" cy="58440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53"/>
          <p:cNvSpPr/>
          <p:nvPr/>
        </p:nvSpPr>
        <p:spPr>
          <a:xfrm>
            <a:off x="6768550" y="2209265"/>
            <a:ext cx="4768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박준혁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53"/>
          <p:cNvSpPr/>
          <p:nvPr/>
        </p:nvSpPr>
        <p:spPr>
          <a:xfrm>
            <a:off x="6768550" y="2711220"/>
            <a:ext cx="4768200" cy="1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알고리즘 설계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포트폴리오 화면 설계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차트 줌/팬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53"/>
          <p:cNvSpPr/>
          <p:nvPr/>
        </p:nvSpPr>
        <p:spPr>
          <a:xfrm>
            <a:off x="12173950" y="2117825"/>
            <a:ext cx="5004000" cy="584400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53"/>
          <p:cNvSpPr/>
          <p:nvPr/>
        </p:nvSpPr>
        <p:spPr>
          <a:xfrm>
            <a:off x="12173950" y="2117825"/>
            <a:ext cx="78600" cy="58440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53"/>
          <p:cNvSpPr/>
          <p:nvPr/>
        </p:nvSpPr>
        <p:spPr>
          <a:xfrm>
            <a:off x="12357350" y="2209265"/>
            <a:ext cx="4768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진강훈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3"/>
          <p:cNvSpPr/>
          <p:nvPr/>
        </p:nvSpPr>
        <p:spPr>
          <a:xfrm>
            <a:off x="12357350" y="2711220"/>
            <a:ext cx="4768200" cy="1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종목 리스트 페이지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종목 상세 페이지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검색 바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3"/>
          <p:cNvSpPr/>
          <p:nvPr/>
        </p:nvSpPr>
        <p:spPr>
          <a:xfrm>
            <a:off x="996350" y="5017800"/>
            <a:ext cx="5004000" cy="584400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53"/>
          <p:cNvSpPr/>
          <p:nvPr/>
        </p:nvSpPr>
        <p:spPr>
          <a:xfrm>
            <a:off x="996350" y="5017800"/>
            <a:ext cx="78600" cy="58440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53"/>
          <p:cNvSpPr/>
          <p:nvPr/>
        </p:nvSpPr>
        <p:spPr>
          <a:xfrm>
            <a:off x="1179750" y="5109240"/>
            <a:ext cx="4768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이지원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3"/>
          <p:cNvSpPr/>
          <p:nvPr/>
        </p:nvSpPr>
        <p:spPr>
          <a:xfrm>
            <a:off x="1179750" y="5611195"/>
            <a:ext cx="4768200" cy="1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뉴스 페이지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랭킹 페이지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페이지네이션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53"/>
          <p:cNvSpPr/>
          <p:nvPr/>
        </p:nvSpPr>
        <p:spPr>
          <a:xfrm>
            <a:off x="6585150" y="5017800"/>
            <a:ext cx="5004000" cy="584400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53"/>
          <p:cNvSpPr/>
          <p:nvPr/>
        </p:nvSpPr>
        <p:spPr>
          <a:xfrm>
            <a:off x="6585150" y="5017800"/>
            <a:ext cx="78600" cy="58440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53"/>
          <p:cNvSpPr/>
          <p:nvPr/>
        </p:nvSpPr>
        <p:spPr>
          <a:xfrm>
            <a:off x="6768550" y="5109240"/>
            <a:ext cx="4768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이형철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3"/>
          <p:cNvSpPr/>
          <p:nvPr/>
        </p:nvSpPr>
        <p:spPr>
          <a:xfrm>
            <a:off x="6768550" y="5611195"/>
            <a:ext cx="4768200" cy="1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뉴스 AI 분석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포트폴리오 페이지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모의투자 폼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3"/>
          <p:cNvSpPr/>
          <p:nvPr/>
        </p:nvSpPr>
        <p:spPr>
          <a:xfrm>
            <a:off x="12173950" y="5017800"/>
            <a:ext cx="5004000" cy="584400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53"/>
          <p:cNvSpPr/>
          <p:nvPr/>
        </p:nvSpPr>
        <p:spPr>
          <a:xfrm>
            <a:off x="12173950" y="5017800"/>
            <a:ext cx="78600" cy="58440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53"/>
          <p:cNvSpPr/>
          <p:nvPr/>
        </p:nvSpPr>
        <p:spPr>
          <a:xfrm>
            <a:off x="12357350" y="5109240"/>
            <a:ext cx="4768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홍승현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3"/>
          <p:cNvSpPr/>
          <p:nvPr/>
        </p:nvSpPr>
        <p:spPr>
          <a:xfrm>
            <a:off x="12357350" y="5611195"/>
            <a:ext cx="4768200" cy="1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로그인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회원가입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css 파일 통합/분리</a:t>
            </a:r>
            <a:endParaRPr sz="18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4"/>
          <p:cNvSpPr txBox="1"/>
          <p:nvPr/>
        </p:nvSpPr>
        <p:spPr>
          <a:xfrm>
            <a:off x="6019920" y="927000"/>
            <a:ext cx="6248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4"/>
          <p:cNvSpPr txBox="1"/>
          <p:nvPr/>
        </p:nvSpPr>
        <p:spPr>
          <a:xfrm>
            <a:off x="6032520" y="1498680"/>
            <a:ext cx="6222960" cy="34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발표</a:t>
            </a:r>
            <a:r>
              <a:rPr lang="en-US" sz="1800" b="0" i="0" u="none" strike="noStrike" cap="none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진행</a:t>
            </a:r>
            <a:r>
              <a:rPr lang="en-US" sz="1800" b="0" i="0" u="none" strike="noStrike" cap="none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순서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4"/>
          <p:cNvSpPr txBox="1"/>
          <p:nvPr/>
        </p:nvSpPr>
        <p:spPr>
          <a:xfrm>
            <a:off x="5994360" y="9499680"/>
            <a:ext cx="6210360" cy="29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56565"/>
                </a:solidFill>
              </a:rPr>
              <a:t>24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9" name="Google Shape;419;p54"/>
          <p:cNvGraphicFramePr/>
          <p:nvPr/>
        </p:nvGraphicFramePr>
        <p:xfrm>
          <a:off x="3784439" y="221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{BEF7B708-E437-40BA-ADCD-BCB83132E3BD}</a:tableStyleId>
              </a:tblPr>
              <a:tblGrid>
                <a:gridCol w="1105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전체 발표(황수연)</a:t>
                      </a:r>
                      <a:endParaRPr sz="26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개별 발표</a:t>
                      </a:r>
                      <a:endParaRPr sz="26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        홈 화면(황수연)</a:t>
                      </a:r>
                      <a:endParaRPr sz="26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en-US" sz="2600"/>
                        <a:t>알고리즘 설명(박준혁)</a:t>
                      </a:r>
                      <a:endParaRPr sz="26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en-US" sz="2600"/>
                        <a:t>차트 상세 페이지(진강훈)</a:t>
                      </a:r>
                      <a:endParaRPr sz="26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en-US" sz="2600"/>
                        <a:t>포트폴리오(이형철)</a:t>
                      </a:r>
                      <a:endParaRPr sz="26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en-US" sz="2600"/>
                        <a:t>뉴스, 랭킹(이지원)</a:t>
                      </a:r>
                      <a:endParaRPr sz="26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en-US" sz="2600"/>
                        <a:t>로그인, 내 프로필(홍승현)</a:t>
                      </a:r>
                      <a:endParaRPr sz="26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647" y="2181026"/>
            <a:ext cx="14385692" cy="681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5"/>
          <p:cNvSpPr txBox="1"/>
          <p:nvPr/>
        </p:nvSpPr>
        <p:spPr>
          <a:xfrm>
            <a:off x="6019920" y="92700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메인 페이지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8650" y="1611530"/>
            <a:ext cx="812880" cy="736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">
            <a:off x="2184120" y="6616440"/>
            <a:ext cx="888840" cy="16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13778290" y="8763120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5"/>
          <p:cNvSpPr txBox="1"/>
          <p:nvPr/>
        </p:nvSpPr>
        <p:spPr>
          <a:xfrm>
            <a:off x="3996297" y="1503947"/>
            <a:ext cx="1600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네비게이션 바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78290" y="1611529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5"/>
          <p:cNvSpPr txBox="1"/>
          <p:nvPr/>
        </p:nvSpPr>
        <p:spPr>
          <a:xfrm>
            <a:off x="16360219" y="1503952"/>
            <a:ext cx="1524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유저 프로필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55"/>
          <p:cNvSpPr txBox="1"/>
          <p:nvPr/>
        </p:nvSpPr>
        <p:spPr>
          <a:xfrm>
            <a:off x="14210938" y="9380484"/>
            <a:ext cx="2146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전일 거래 내역</a:t>
            </a:r>
            <a:endParaRPr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96379" y="1634569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5"/>
          <p:cNvSpPr txBox="1"/>
          <p:nvPr/>
        </p:nvSpPr>
        <p:spPr>
          <a:xfrm>
            <a:off x="13778309" y="1526992"/>
            <a:ext cx="1524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주식 검색창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15886740" y="4107070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5"/>
          <p:cNvSpPr txBox="1"/>
          <p:nvPr/>
        </p:nvSpPr>
        <p:spPr>
          <a:xfrm>
            <a:off x="16294828" y="4689960"/>
            <a:ext cx="2146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AI 뉴스 분석</a:t>
            </a:r>
            <a:endParaRPr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1264790" y="4275395"/>
            <a:ext cx="812880" cy="7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5"/>
          <p:cNvSpPr txBox="1"/>
          <p:nvPr/>
        </p:nvSpPr>
        <p:spPr>
          <a:xfrm>
            <a:off x="213722" y="5149192"/>
            <a:ext cx="2146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전일 기준</a:t>
            </a:r>
            <a:endParaRPr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등락율 순위</a:t>
            </a:r>
            <a:endParaRPr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56"/>
          <p:cNvPicPr preferRelativeResize="0"/>
          <p:nvPr/>
        </p:nvPicPr>
        <p:blipFill rotWithShape="1">
          <a:blip r:embed="rId3">
            <a:alphaModFix/>
          </a:blip>
          <a:srcRect b="91508"/>
          <a:stretch/>
        </p:blipFill>
        <p:spPr>
          <a:xfrm>
            <a:off x="1912150" y="2135985"/>
            <a:ext cx="14463949" cy="5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6"/>
          <p:cNvSpPr txBox="1"/>
          <p:nvPr/>
        </p:nvSpPr>
        <p:spPr>
          <a:xfrm>
            <a:off x="6019920" y="92700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네비게이션, Index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" name="Google Shape;445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0000">
            <a:off x="2184120" y="6616440"/>
            <a:ext cx="888840" cy="16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62280" y="3344960"/>
            <a:ext cx="1536840" cy="76212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6"/>
          <p:cNvSpPr txBox="1"/>
          <p:nvPr/>
        </p:nvSpPr>
        <p:spPr>
          <a:xfrm>
            <a:off x="6032520" y="1498680"/>
            <a:ext cx="62229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navbar.html, search.html, search_result.html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2145" y="3014410"/>
            <a:ext cx="6762750" cy="6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13345" y="2919160"/>
            <a:ext cx="6762750" cy="63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7"/>
          <p:cNvSpPr txBox="1"/>
          <p:nvPr/>
        </p:nvSpPr>
        <p:spPr>
          <a:xfrm>
            <a:off x="6019920" y="92700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000">
                <a:solidFill>
                  <a:schemeClr val="dk1"/>
                </a:solidFill>
              </a:rPr>
              <a:t>메인 페이지</a:t>
            </a: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lang="en-US" sz="3000"/>
              <a:t>차트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0000">
            <a:off x="2184120" y="6616440"/>
            <a:ext cx="888840" cy="16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2280" y="3344960"/>
            <a:ext cx="1536840" cy="762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7"/>
          <p:cNvPicPr preferRelativeResize="0"/>
          <p:nvPr/>
        </p:nvPicPr>
        <p:blipFill rotWithShape="1">
          <a:blip r:embed="rId5">
            <a:alphaModFix/>
          </a:blip>
          <a:srcRect l="22565" t="9000" r="24650"/>
          <a:stretch/>
        </p:blipFill>
        <p:spPr>
          <a:xfrm>
            <a:off x="1093000" y="2668200"/>
            <a:ext cx="7634876" cy="62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06151" y="2570925"/>
            <a:ext cx="7708250" cy="62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57"/>
          <p:cNvSpPr txBox="1"/>
          <p:nvPr/>
        </p:nvSpPr>
        <p:spPr>
          <a:xfrm>
            <a:off x="6032520" y="1498680"/>
            <a:ext cx="62229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chart_toggle_macro.html, charts.js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8"/>
          <p:cNvSpPr/>
          <p:nvPr/>
        </p:nvSpPr>
        <p:spPr>
          <a:xfrm>
            <a:off x="548640" y="1737360"/>
            <a:ext cx="17190720" cy="1426464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58"/>
          <p:cNvSpPr/>
          <p:nvPr/>
        </p:nvSpPr>
        <p:spPr>
          <a:xfrm>
            <a:off x="548640" y="1737360"/>
            <a:ext cx="109728" cy="1426464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58"/>
          <p:cNvSpPr/>
          <p:nvPr/>
        </p:nvSpPr>
        <p:spPr>
          <a:xfrm>
            <a:off x="914400" y="1828800"/>
            <a:ext cx="36576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6EE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2E6EE1"/>
                </a:solidFill>
                <a:latin typeface="Calibri"/>
                <a:ea typeface="Calibri"/>
                <a:cs typeface="Calibri"/>
                <a:sym typeface="Calibri"/>
              </a:rPr>
              <a:t>Chart.js란?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58"/>
          <p:cNvSpPr/>
          <p:nvPr/>
        </p:nvSpPr>
        <p:spPr>
          <a:xfrm>
            <a:off x="914400" y="2377440"/>
            <a:ext cx="164592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HTML5 Canvas 기반 오픈소스 JavaScript 차트 라이브러리 (MIT 라이선스) · 8가지 기본 차트 타입 · 플러그인 훅으로 무한 확장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58"/>
          <p:cNvSpPr/>
          <p:nvPr/>
        </p:nvSpPr>
        <p:spPr>
          <a:xfrm>
            <a:off x="548640" y="3438144"/>
            <a:ext cx="5486400" cy="5120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58"/>
          <p:cNvSpPr/>
          <p:nvPr/>
        </p:nvSpPr>
        <p:spPr>
          <a:xfrm>
            <a:off x="548640" y="3438144"/>
            <a:ext cx="5486400" cy="109728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58"/>
          <p:cNvSpPr/>
          <p:nvPr/>
        </p:nvSpPr>
        <p:spPr>
          <a:xfrm>
            <a:off x="548640" y="365760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58"/>
          <p:cNvSpPr/>
          <p:nvPr/>
        </p:nvSpPr>
        <p:spPr>
          <a:xfrm>
            <a:off x="822960" y="4718304"/>
            <a:ext cx="493776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CDN 한 줄 도입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58"/>
          <p:cNvSpPr/>
          <p:nvPr/>
        </p:nvSpPr>
        <p:spPr>
          <a:xfrm>
            <a:off x="822960" y="5486400"/>
            <a:ext cx="4937760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chart.min.js CDN 로드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moment.js 어댑터로 시간축 처리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58"/>
          <p:cNvSpPr/>
          <p:nvPr/>
        </p:nvSpPr>
        <p:spPr>
          <a:xfrm>
            <a:off x="6345936" y="3438144"/>
            <a:ext cx="5486400" cy="5120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58"/>
          <p:cNvSpPr/>
          <p:nvPr/>
        </p:nvSpPr>
        <p:spPr>
          <a:xfrm>
            <a:off x="6345936" y="3438144"/>
            <a:ext cx="5486400" cy="109728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58"/>
          <p:cNvSpPr/>
          <p:nvPr/>
        </p:nvSpPr>
        <p:spPr>
          <a:xfrm>
            <a:off x="6345936" y="365760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58"/>
          <p:cNvSpPr/>
          <p:nvPr/>
        </p:nvSpPr>
        <p:spPr>
          <a:xfrm>
            <a:off x="6620256" y="4718304"/>
            <a:ext cx="493776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Canvas 직접 렌더링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58"/>
          <p:cNvSpPr/>
          <p:nvPr/>
        </p:nvSpPr>
        <p:spPr>
          <a:xfrm>
            <a:off x="6620256" y="5486400"/>
            <a:ext cx="4937760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afterDatasetsDraw 훅으로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캔들을 Canvas API로 직접 드로잉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58"/>
          <p:cNvSpPr/>
          <p:nvPr/>
        </p:nvSpPr>
        <p:spPr>
          <a:xfrm>
            <a:off x="12143232" y="3438144"/>
            <a:ext cx="5486400" cy="5120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58"/>
          <p:cNvSpPr/>
          <p:nvPr/>
        </p:nvSpPr>
        <p:spPr>
          <a:xfrm>
            <a:off x="12143232" y="3438144"/>
            <a:ext cx="5486400" cy="109728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58"/>
          <p:cNvSpPr/>
          <p:nvPr/>
        </p:nvSpPr>
        <p:spPr>
          <a:xfrm>
            <a:off x="12143232" y="365760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58"/>
          <p:cNvSpPr/>
          <p:nvPr/>
        </p:nvSpPr>
        <p:spPr>
          <a:xfrm>
            <a:off x="12417552" y="4718304"/>
            <a:ext cx="493776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즉각적인</a:t>
            </a:r>
            <a:r>
              <a:rPr lang="en-US" sz="26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업데이트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58"/>
          <p:cNvSpPr/>
          <p:nvPr/>
        </p:nvSpPr>
        <p:spPr>
          <a:xfrm>
            <a:off x="12417552" y="5486400"/>
            <a:ext cx="4937760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chart.update('none') 으로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애니메이션 없이 즉각 반영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58"/>
          <p:cNvSpPr/>
          <p:nvPr/>
        </p:nvSpPr>
        <p:spPr>
          <a:xfrm>
            <a:off x="548640" y="8814816"/>
            <a:ext cx="17190720" cy="950976"/>
          </a:xfrm>
          <a:prstGeom prst="rect">
            <a:avLst/>
          </a:prstGeom>
          <a:solidFill>
            <a:srgbClr val="F0F2F5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58"/>
          <p:cNvSpPr/>
          <p:nvPr/>
        </p:nvSpPr>
        <p:spPr>
          <a:xfrm>
            <a:off x="914400" y="8924544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6EE1"/>
              </a:buClr>
              <a:buSzPts val="1900"/>
              <a:buFont typeface="Consolas"/>
              <a:buNone/>
            </a:pPr>
            <a:r>
              <a:rPr lang="en-US" sz="1900" b="0" i="0" u="none" strike="noStrike" cap="none">
                <a:solidFill>
                  <a:srgbClr val="2E6EE1"/>
                </a:solidFill>
                <a:latin typeface="Consolas"/>
                <a:ea typeface="Consolas"/>
                <a:cs typeface="Consolas"/>
                <a:sym typeface="Consolas"/>
              </a:rPr>
              <a:t>new Chart(canvas.getContext('2d'), { type: 'line', data: { datasets:[{...}] }, options: { scales:{ x:{ type:'time' } } } });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8"/>
          <p:cNvSpPr txBox="1"/>
          <p:nvPr/>
        </p:nvSpPr>
        <p:spPr>
          <a:xfrm>
            <a:off x="6019920" y="48885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Chart.js</a:t>
            </a:r>
            <a:endParaRPr sz="3000"/>
          </a:p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487" name="Google Shape;487;p58"/>
          <p:cNvSpPr txBox="1"/>
          <p:nvPr/>
        </p:nvSpPr>
        <p:spPr>
          <a:xfrm>
            <a:off x="6032520" y="1060530"/>
            <a:ext cx="62229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https://www.chartjs.org/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9"/>
          <p:cNvSpPr/>
          <p:nvPr/>
        </p:nvSpPr>
        <p:spPr>
          <a:xfrm>
            <a:off x="457200" y="1645920"/>
            <a:ext cx="3840480" cy="2377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59"/>
          <p:cNvSpPr/>
          <p:nvPr/>
        </p:nvSpPr>
        <p:spPr>
          <a:xfrm>
            <a:off x="457200" y="1645920"/>
            <a:ext cx="3840480" cy="73152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59"/>
          <p:cNvSpPr/>
          <p:nvPr/>
        </p:nvSpPr>
        <p:spPr>
          <a:xfrm>
            <a:off x="457200" y="1700784"/>
            <a:ext cx="38404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switchChart()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9"/>
          <p:cNvSpPr/>
          <p:nvPr/>
        </p:nvSpPr>
        <p:spPr>
          <a:xfrm>
            <a:off x="603504" y="2468880"/>
            <a:ext cx="3584448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Line ↔ Candle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전환 진입점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59"/>
          <p:cNvSpPr/>
          <p:nvPr/>
        </p:nvSpPr>
        <p:spPr>
          <a:xfrm>
            <a:off x="4334256" y="2724912"/>
            <a:ext cx="475488" cy="9144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59"/>
          <p:cNvSpPr/>
          <p:nvPr/>
        </p:nvSpPr>
        <p:spPr>
          <a:xfrm>
            <a:off x="4590288" y="2578608"/>
            <a:ext cx="365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6EE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2E6EE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59"/>
          <p:cNvSpPr/>
          <p:nvPr/>
        </p:nvSpPr>
        <p:spPr>
          <a:xfrm>
            <a:off x="4809744" y="1645920"/>
            <a:ext cx="3840480" cy="2377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59"/>
          <p:cNvSpPr/>
          <p:nvPr/>
        </p:nvSpPr>
        <p:spPr>
          <a:xfrm>
            <a:off x="4809744" y="1645920"/>
            <a:ext cx="3840480" cy="73152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59"/>
          <p:cNvSpPr/>
          <p:nvPr/>
        </p:nvSpPr>
        <p:spPr>
          <a:xfrm>
            <a:off x="4809744" y="1700784"/>
            <a:ext cx="38404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renderCandle/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Line()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59"/>
          <p:cNvSpPr/>
          <p:nvPr/>
        </p:nvSpPr>
        <p:spPr>
          <a:xfrm>
            <a:off x="4956048" y="2468880"/>
            <a:ext cx="3584448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Chart.js 인스턴스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생성 &amp; 설정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59"/>
          <p:cNvSpPr/>
          <p:nvPr/>
        </p:nvSpPr>
        <p:spPr>
          <a:xfrm>
            <a:off x="8686800" y="2724912"/>
            <a:ext cx="475488" cy="9144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59"/>
          <p:cNvSpPr/>
          <p:nvPr/>
        </p:nvSpPr>
        <p:spPr>
          <a:xfrm>
            <a:off x="8942832" y="2578608"/>
            <a:ext cx="365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6EE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2E6EE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59"/>
          <p:cNvSpPr/>
          <p:nvPr/>
        </p:nvSpPr>
        <p:spPr>
          <a:xfrm>
            <a:off x="9162288" y="1645920"/>
            <a:ext cx="3840480" cy="2377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59"/>
          <p:cNvSpPr/>
          <p:nvPr/>
        </p:nvSpPr>
        <p:spPr>
          <a:xfrm>
            <a:off x="9162288" y="1645920"/>
            <a:ext cx="3840480" cy="73152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59"/>
          <p:cNvSpPr/>
          <p:nvPr/>
        </p:nvSpPr>
        <p:spPr>
          <a:xfrm>
            <a:off x="9162288" y="1700784"/>
            <a:ext cx="38404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drawCandles()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59"/>
          <p:cNvSpPr/>
          <p:nvPr/>
        </p:nvSpPr>
        <p:spPr>
          <a:xfrm>
            <a:off x="9308592" y="2468880"/>
            <a:ext cx="3584448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afterDatasetsDraw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Canvas 직접 드로잉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59"/>
          <p:cNvSpPr/>
          <p:nvPr/>
        </p:nvSpPr>
        <p:spPr>
          <a:xfrm>
            <a:off x="13039344" y="2724912"/>
            <a:ext cx="475488" cy="9144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59"/>
          <p:cNvSpPr/>
          <p:nvPr/>
        </p:nvSpPr>
        <p:spPr>
          <a:xfrm>
            <a:off x="13295376" y="2578608"/>
            <a:ext cx="365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6EE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2E6EE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9"/>
          <p:cNvSpPr/>
          <p:nvPr/>
        </p:nvSpPr>
        <p:spPr>
          <a:xfrm>
            <a:off x="13514832" y="1645920"/>
            <a:ext cx="3840480" cy="2377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59"/>
          <p:cNvSpPr/>
          <p:nvPr/>
        </p:nvSpPr>
        <p:spPr>
          <a:xfrm>
            <a:off x="13514832" y="1645920"/>
            <a:ext cx="3840480" cy="73152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59"/>
          <p:cNvSpPr/>
          <p:nvPr/>
        </p:nvSpPr>
        <p:spPr>
          <a:xfrm>
            <a:off x="13514832" y="1700784"/>
            <a:ext cx="38404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bindZoom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Engine()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9"/>
          <p:cNvSpPr/>
          <p:nvPr/>
        </p:nvSpPr>
        <p:spPr>
          <a:xfrm>
            <a:off x="13661136" y="2468880"/>
            <a:ext cx="3584448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휠 줌 · 드래그 팬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더블클릭 초기화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59"/>
          <p:cNvSpPr/>
          <p:nvPr/>
        </p:nvSpPr>
        <p:spPr>
          <a:xfrm>
            <a:off x="457200" y="4297680"/>
            <a:ext cx="8503920" cy="548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59"/>
          <p:cNvSpPr/>
          <p:nvPr/>
        </p:nvSpPr>
        <p:spPr>
          <a:xfrm>
            <a:off x="457200" y="4297680"/>
            <a:ext cx="8503920" cy="768096"/>
          </a:xfrm>
          <a:prstGeom prst="rect">
            <a:avLst/>
          </a:prstGeom>
          <a:solidFill>
            <a:srgbClr val="C0392B">
              <a:alpha val="1215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59"/>
          <p:cNvSpPr/>
          <p:nvPr/>
        </p:nvSpPr>
        <p:spPr>
          <a:xfrm>
            <a:off x="457200" y="4297680"/>
            <a:ext cx="109728" cy="5486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59"/>
          <p:cNvSpPr/>
          <p:nvPr/>
        </p:nvSpPr>
        <p:spPr>
          <a:xfrm>
            <a:off x="749808" y="438912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🕯 캔들 직접 그리기 (drawCandles)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59"/>
          <p:cNvSpPr/>
          <p:nvPr/>
        </p:nvSpPr>
        <p:spPr>
          <a:xfrm>
            <a:off x="859536" y="5340096"/>
            <a:ext cx="329184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59"/>
          <p:cNvSpPr/>
          <p:nvPr/>
        </p:nvSpPr>
        <p:spPr>
          <a:xfrm>
            <a:off x="1371600" y="5285232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afterDatasetsDraw 플러그인 훅 사용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59"/>
          <p:cNvSpPr/>
          <p:nvPr/>
        </p:nvSpPr>
        <p:spPr>
          <a:xfrm>
            <a:off x="859536" y="6327648"/>
            <a:ext cx="329184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59"/>
          <p:cNvSpPr/>
          <p:nvPr/>
        </p:nvSpPr>
        <p:spPr>
          <a:xfrm>
            <a:off x="1371600" y="6272784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시가·고가·저가·종가 → 픽셀 좌표 변환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9"/>
          <p:cNvSpPr/>
          <p:nvPr/>
        </p:nvSpPr>
        <p:spPr>
          <a:xfrm>
            <a:off x="859536" y="7315200"/>
            <a:ext cx="329184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59"/>
          <p:cNvSpPr/>
          <p:nvPr/>
        </p:nvSpPr>
        <p:spPr>
          <a:xfrm>
            <a:off x="1371600" y="7260336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상승 빨강(#e15759) / 하락 파랑(#4e79a7)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59"/>
          <p:cNvSpPr/>
          <p:nvPr/>
        </p:nvSpPr>
        <p:spPr>
          <a:xfrm>
            <a:off x="859536" y="8302752"/>
            <a:ext cx="329184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59"/>
          <p:cNvSpPr/>
          <p:nvPr/>
        </p:nvSpPr>
        <p:spPr>
          <a:xfrm>
            <a:off x="1371600" y="8247888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캔들 폭 = 인접 데이터 간격 × 0.6 동적 계산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59"/>
          <p:cNvSpPr/>
          <p:nvPr/>
        </p:nvSpPr>
        <p:spPr>
          <a:xfrm>
            <a:off x="9418320" y="4297680"/>
            <a:ext cx="8503920" cy="548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59"/>
          <p:cNvSpPr/>
          <p:nvPr/>
        </p:nvSpPr>
        <p:spPr>
          <a:xfrm>
            <a:off x="9418320" y="4297680"/>
            <a:ext cx="8503920" cy="768096"/>
          </a:xfrm>
          <a:prstGeom prst="rect">
            <a:avLst/>
          </a:prstGeom>
          <a:solidFill>
            <a:srgbClr val="2E6EE1">
              <a:alpha val="1215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59"/>
          <p:cNvSpPr/>
          <p:nvPr/>
        </p:nvSpPr>
        <p:spPr>
          <a:xfrm>
            <a:off x="9418320" y="4297680"/>
            <a:ext cx="109728" cy="548640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59"/>
          <p:cNvSpPr/>
          <p:nvPr/>
        </p:nvSpPr>
        <p:spPr>
          <a:xfrm>
            <a:off x="9710928" y="438912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🔍 줌·팬 엔진 (bindZoomEngine)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59"/>
          <p:cNvSpPr/>
          <p:nvPr/>
        </p:nvSpPr>
        <p:spPr>
          <a:xfrm>
            <a:off x="9820656" y="5340096"/>
            <a:ext cx="329184" cy="329184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59"/>
          <p:cNvSpPr/>
          <p:nvPr/>
        </p:nvSpPr>
        <p:spPr>
          <a:xfrm>
            <a:off x="10332720" y="5285232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외부 플러그인 없이 순수 Canvas 이벤트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59"/>
          <p:cNvSpPr/>
          <p:nvPr/>
        </p:nvSpPr>
        <p:spPr>
          <a:xfrm>
            <a:off x="9820656" y="6327648"/>
            <a:ext cx="329184" cy="329184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59"/>
          <p:cNvSpPr/>
          <p:nvPr/>
        </p:nvSpPr>
        <p:spPr>
          <a:xfrm>
            <a:off x="10332720" y="6272784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휠 이벤트 → 마우스 위치 기준 pivot 줌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9"/>
          <p:cNvSpPr/>
          <p:nvPr/>
        </p:nvSpPr>
        <p:spPr>
          <a:xfrm>
            <a:off x="9820656" y="7315200"/>
            <a:ext cx="329184" cy="329184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59"/>
          <p:cNvSpPr/>
          <p:nvPr/>
        </p:nvSpPr>
        <p:spPr>
          <a:xfrm>
            <a:off x="10332720" y="7260336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mousedown/move/up → 드래그 팬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9"/>
          <p:cNvSpPr/>
          <p:nvPr/>
        </p:nvSpPr>
        <p:spPr>
          <a:xfrm>
            <a:off x="9820656" y="8302752"/>
            <a:ext cx="329184" cy="329184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59"/>
          <p:cNvSpPr/>
          <p:nvPr/>
        </p:nvSpPr>
        <p:spPr>
          <a:xfrm>
            <a:off x="10332720" y="8247888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더블클릭 → 저장된 xMin0/xMax0 복귀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59"/>
          <p:cNvSpPr txBox="1"/>
          <p:nvPr/>
        </p:nvSpPr>
        <p:spPr>
          <a:xfrm>
            <a:off x="6019920" y="41265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Charts.js</a:t>
            </a:r>
            <a:endParaRPr sz="3000"/>
          </a:p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540" name="Google Shape;540;p59"/>
          <p:cNvSpPr txBox="1"/>
          <p:nvPr/>
        </p:nvSpPr>
        <p:spPr>
          <a:xfrm>
            <a:off x="6032520" y="984330"/>
            <a:ext cx="62229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static/js/charts.js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0"/>
          <p:cNvSpPr/>
          <p:nvPr/>
        </p:nvSpPr>
        <p:spPr>
          <a:xfrm>
            <a:off x="10936224" y="1645920"/>
            <a:ext cx="6986100" cy="1134000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60"/>
          <p:cNvSpPr/>
          <p:nvPr/>
        </p:nvSpPr>
        <p:spPr>
          <a:xfrm>
            <a:off x="10936224" y="1645920"/>
            <a:ext cx="109800" cy="113400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60"/>
          <p:cNvSpPr/>
          <p:nvPr/>
        </p:nvSpPr>
        <p:spPr>
          <a:xfrm>
            <a:off x="548640" y="15444216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500"/>
              <a:buFont typeface="Consolas"/>
              <a:buNone/>
            </a:pPr>
            <a:r>
              <a:rPr lang="en-US" sz="1500" b="0" i="0" u="none" strike="noStrike" cap="none">
                <a:solidFill>
                  <a:srgbClr val="BBBBBB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60"/>
          <p:cNvSpPr/>
          <p:nvPr/>
        </p:nvSpPr>
        <p:spPr>
          <a:xfrm>
            <a:off x="1078992" y="15444216"/>
            <a:ext cx="9546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60"/>
          <p:cNvSpPr/>
          <p:nvPr/>
        </p:nvSpPr>
        <p:spPr>
          <a:xfrm>
            <a:off x="11192256" y="1737360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Chart.js 플러그인 훅 연결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60"/>
          <p:cNvSpPr/>
          <p:nvPr/>
        </p:nvSpPr>
        <p:spPr>
          <a:xfrm>
            <a:off x="11192256" y="2194560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afterDatasetsDraw(chart) 에서 호출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60"/>
          <p:cNvSpPr/>
          <p:nvPr/>
        </p:nvSpPr>
        <p:spPr>
          <a:xfrm>
            <a:off x="10936224" y="2962656"/>
            <a:ext cx="6986100" cy="1134000"/>
          </a:xfrm>
          <a:prstGeom prst="rect">
            <a:avLst/>
          </a:prstGeom>
          <a:solidFill>
            <a:srgbClr val="E9F7E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60"/>
          <p:cNvSpPr/>
          <p:nvPr/>
        </p:nvSpPr>
        <p:spPr>
          <a:xfrm>
            <a:off x="10936224" y="2962656"/>
            <a:ext cx="109800" cy="1134000"/>
          </a:xfrm>
          <a:prstGeom prst="rect">
            <a:avLst/>
          </a:prstGeom>
          <a:solidFill>
            <a:srgbClr val="1D8348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60"/>
          <p:cNvSpPr/>
          <p:nvPr/>
        </p:nvSpPr>
        <p:spPr>
          <a:xfrm>
            <a:off x="11192256" y="3054096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동적 캔들 폭 계산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60"/>
          <p:cNvSpPr/>
          <p:nvPr/>
        </p:nvSpPr>
        <p:spPr>
          <a:xfrm>
            <a:off x="11192256" y="3511296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getPixelForValue()로 픽셀 거리 → 0.6배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60"/>
          <p:cNvSpPr/>
          <p:nvPr/>
        </p:nvSpPr>
        <p:spPr>
          <a:xfrm>
            <a:off x="10936224" y="4279392"/>
            <a:ext cx="6986100" cy="1134000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60"/>
          <p:cNvSpPr/>
          <p:nvPr/>
        </p:nvSpPr>
        <p:spPr>
          <a:xfrm>
            <a:off x="10936224" y="4279392"/>
            <a:ext cx="109800" cy="113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60"/>
          <p:cNvSpPr/>
          <p:nvPr/>
        </p:nvSpPr>
        <p:spPr>
          <a:xfrm>
            <a:off x="11192256" y="4370832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상승/하락 색상 분기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60"/>
          <p:cNvSpPr/>
          <p:nvPr/>
        </p:nvSpPr>
        <p:spPr>
          <a:xfrm>
            <a:off x="11192256" y="4828032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d.c &gt;= d.o 이면 빨강, 아니면 파랑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60"/>
          <p:cNvSpPr/>
          <p:nvPr/>
        </p:nvSpPr>
        <p:spPr>
          <a:xfrm>
            <a:off x="10936224" y="5596128"/>
            <a:ext cx="6986100" cy="1134000"/>
          </a:xfrm>
          <a:prstGeom prst="rect">
            <a:avLst/>
          </a:prstGeom>
          <a:solidFill>
            <a:srgbClr val="FEF9E7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60"/>
          <p:cNvSpPr/>
          <p:nvPr/>
        </p:nvSpPr>
        <p:spPr>
          <a:xfrm>
            <a:off x="10936224" y="5596128"/>
            <a:ext cx="109800" cy="1134000"/>
          </a:xfrm>
          <a:prstGeom prst="rect">
            <a:avLst/>
          </a:prstGeom>
          <a:solidFill>
            <a:srgbClr val="7D6608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60"/>
          <p:cNvSpPr/>
          <p:nvPr/>
        </p:nvSpPr>
        <p:spPr>
          <a:xfrm>
            <a:off x="11192256" y="5687568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심지 &amp; 몸통 분리 드로잉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60"/>
          <p:cNvSpPr/>
          <p:nvPr/>
        </p:nvSpPr>
        <p:spPr>
          <a:xfrm>
            <a:off x="11192256" y="6144768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moveTo→lineTo: 심지 / fillRect: 몸통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60"/>
          <p:cNvSpPr/>
          <p:nvPr/>
        </p:nvSpPr>
        <p:spPr>
          <a:xfrm>
            <a:off x="10936224" y="6912864"/>
            <a:ext cx="6986100" cy="1134000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60"/>
          <p:cNvSpPr/>
          <p:nvPr/>
        </p:nvSpPr>
        <p:spPr>
          <a:xfrm>
            <a:off x="10936224" y="6912864"/>
            <a:ext cx="109800" cy="1134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60"/>
          <p:cNvSpPr/>
          <p:nvPr/>
        </p:nvSpPr>
        <p:spPr>
          <a:xfrm>
            <a:off x="11192256" y="7004304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Canvas 좌표 변환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60"/>
          <p:cNvSpPr/>
          <p:nvPr/>
        </p:nvSpPr>
        <p:spPr>
          <a:xfrm>
            <a:off x="11192256" y="7461504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getPixelForValue() 데이터 값 → 픽셀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60"/>
          <p:cNvSpPr txBox="1"/>
          <p:nvPr/>
        </p:nvSpPr>
        <p:spPr>
          <a:xfrm>
            <a:off x="6019920" y="41265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Charts.js</a:t>
            </a:r>
            <a:endParaRPr sz="3000"/>
          </a:p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569" name="Google Shape;569;p60"/>
          <p:cNvSpPr txBox="1"/>
          <p:nvPr/>
        </p:nvSpPr>
        <p:spPr>
          <a:xfrm>
            <a:off x="6032520" y="984330"/>
            <a:ext cx="62229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static/js/charts.js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60"/>
          <p:cNvSpPr txBox="1"/>
          <p:nvPr/>
        </p:nvSpPr>
        <p:spPr>
          <a:xfrm>
            <a:off x="1210050" y="1492350"/>
            <a:ext cx="8147400" cy="8425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6A737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// 캔들차트 그리기</a:t>
            </a:r>
            <a:endParaRPr sz="1250">
              <a:solidFill>
                <a:srgbClr val="6A737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drawCandles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chart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rawData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rawData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rawData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ctx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chart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.ctx,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xScale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chart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.scales.x,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yScale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chart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.scales.y;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6A737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// 캔들 폭 계산</a:t>
            </a:r>
            <a:endParaRPr sz="1250">
              <a:solidFill>
                <a:srgbClr val="6A737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candleW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rawData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xScale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getPixelForValue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rawData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].x);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x1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xScale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getPixelForValue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rawData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].x);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candleW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abs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x1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0.6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ctx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save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rawData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6A737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// 데이터 유효성 체크</a:t>
            </a:r>
            <a:endParaRPr sz="1250">
              <a:solidFill>
                <a:srgbClr val="6A737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.o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.h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.l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.c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6A737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// 고가나 저가가 0이면 스킵</a:t>
            </a:r>
            <a:endParaRPr sz="1250">
              <a:solidFill>
                <a:srgbClr val="6A737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.h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.l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6A737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// canvas 픽셀 좌표로 변환</a:t>
            </a:r>
            <a:endParaRPr sz="1250">
              <a:solidFill>
                <a:srgbClr val="6A737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xScale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getPixelForValue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.x);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po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yScale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getPixelForValue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.o),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ph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yScale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getPixelForValue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.h);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pl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yScale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getPixelForValue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.l),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pc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yScale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getPixelForValue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.c);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6A737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// 상승/하락 색상</a:t>
            </a:r>
            <a:endParaRPr sz="1250">
              <a:solidFill>
                <a:srgbClr val="6A737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.c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FAB7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.o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9ECB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"#e15759"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9ECB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"#4e79a7"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6A737D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// 캔들 그리기</a:t>
            </a:r>
            <a:endParaRPr sz="1250">
              <a:solidFill>
                <a:srgbClr val="6A737D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ctx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beginPath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();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ctx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.strokeStyle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ctx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.lineWidth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ctx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moveTo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ph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);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ctx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lineTo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pl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);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ctx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stroke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ctx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.fillStyle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ctx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fillRect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candleW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po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pc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), candleW,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abs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pc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po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)));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79B8FF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ctx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restore</a:t>
            </a: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250">
              <a:solidFill>
                <a:srgbClr val="E1E4E8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0055CC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1"/>
          <p:cNvSpPr/>
          <p:nvPr/>
        </p:nvSpPr>
        <p:spPr>
          <a:xfrm>
            <a:off x="10936224" y="1645920"/>
            <a:ext cx="6986016" cy="1133856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61"/>
          <p:cNvSpPr/>
          <p:nvPr/>
        </p:nvSpPr>
        <p:spPr>
          <a:xfrm>
            <a:off x="10936224" y="1645920"/>
            <a:ext cx="109728" cy="1133856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61"/>
          <p:cNvSpPr/>
          <p:nvPr/>
        </p:nvSpPr>
        <p:spPr>
          <a:xfrm>
            <a:off x="11192256" y="1737360"/>
            <a:ext cx="66568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외부 플러그인 Zero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61"/>
          <p:cNvSpPr/>
          <p:nvPr/>
        </p:nvSpPr>
        <p:spPr>
          <a:xfrm>
            <a:off x="11192256" y="2194560"/>
            <a:ext cx="66568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순수 Canvas 이벤트만으로 구현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61"/>
          <p:cNvSpPr/>
          <p:nvPr/>
        </p:nvSpPr>
        <p:spPr>
          <a:xfrm>
            <a:off x="10936224" y="2962656"/>
            <a:ext cx="6986016" cy="1133856"/>
          </a:xfrm>
          <a:prstGeom prst="rect">
            <a:avLst/>
          </a:prstGeom>
          <a:solidFill>
            <a:srgbClr val="FEF9E7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61"/>
          <p:cNvSpPr/>
          <p:nvPr/>
        </p:nvSpPr>
        <p:spPr>
          <a:xfrm>
            <a:off x="10936224" y="2962656"/>
            <a:ext cx="109728" cy="1133856"/>
          </a:xfrm>
          <a:prstGeom prst="rect">
            <a:avLst/>
          </a:prstGeom>
          <a:solidFill>
            <a:srgbClr val="7D6608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61"/>
          <p:cNvSpPr/>
          <p:nvPr/>
        </p:nvSpPr>
        <p:spPr>
          <a:xfrm>
            <a:off x="11192256" y="3054096"/>
            <a:ext cx="66568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마우스 위치 기준 줌 (pivot)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61"/>
          <p:cNvSpPr/>
          <p:nvPr/>
        </p:nvSpPr>
        <p:spPr>
          <a:xfrm>
            <a:off x="11192256" y="3511296"/>
            <a:ext cx="66568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ratio = 마우스X / 차트폭 → 날짜 중심 확대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61"/>
          <p:cNvSpPr/>
          <p:nvPr/>
        </p:nvSpPr>
        <p:spPr>
          <a:xfrm>
            <a:off x="10936224" y="4279392"/>
            <a:ext cx="6986016" cy="1133856"/>
          </a:xfrm>
          <a:prstGeom prst="rect">
            <a:avLst/>
          </a:prstGeom>
          <a:solidFill>
            <a:srgbClr val="E9F7E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61"/>
          <p:cNvSpPr/>
          <p:nvPr/>
        </p:nvSpPr>
        <p:spPr>
          <a:xfrm>
            <a:off x="10936224" y="4279392"/>
            <a:ext cx="109728" cy="1133856"/>
          </a:xfrm>
          <a:prstGeom prst="rect">
            <a:avLst/>
          </a:prstGeom>
          <a:solidFill>
            <a:srgbClr val="1D8348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61"/>
          <p:cNvSpPr/>
          <p:nvPr/>
        </p:nvSpPr>
        <p:spPr>
          <a:xfrm>
            <a:off x="11192256" y="4370832"/>
            <a:ext cx="66568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범위 상하한 클램핑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61"/>
          <p:cNvSpPr/>
          <p:nvPr/>
        </p:nvSpPr>
        <p:spPr>
          <a:xfrm>
            <a:off x="11192256" y="4828032"/>
            <a:ext cx="66568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최소 5일 ~ 최대 전체 데이터 범위 제한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61"/>
          <p:cNvSpPr/>
          <p:nvPr/>
        </p:nvSpPr>
        <p:spPr>
          <a:xfrm>
            <a:off x="10936224" y="5596128"/>
            <a:ext cx="6986016" cy="1133856"/>
          </a:xfrm>
          <a:prstGeom prst="rect">
            <a:avLst/>
          </a:prstGeom>
          <a:solidFill>
            <a:srgbClr val="EDE9FE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61"/>
          <p:cNvSpPr/>
          <p:nvPr/>
        </p:nvSpPr>
        <p:spPr>
          <a:xfrm>
            <a:off x="10936224" y="5596128"/>
            <a:ext cx="109728" cy="11338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61"/>
          <p:cNvSpPr/>
          <p:nvPr/>
        </p:nvSpPr>
        <p:spPr>
          <a:xfrm>
            <a:off x="11192256" y="5687568"/>
            <a:ext cx="66568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update('none') 성능 최적화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61"/>
          <p:cNvSpPr/>
          <p:nvPr/>
        </p:nvSpPr>
        <p:spPr>
          <a:xfrm>
            <a:off x="11192256" y="6144768"/>
            <a:ext cx="66568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애니메이션 생략 → 60fps 부드러운 줌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61"/>
          <p:cNvSpPr/>
          <p:nvPr/>
        </p:nvSpPr>
        <p:spPr>
          <a:xfrm>
            <a:off x="10936224" y="6912864"/>
            <a:ext cx="6986016" cy="1133856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61"/>
          <p:cNvSpPr/>
          <p:nvPr/>
        </p:nvSpPr>
        <p:spPr>
          <a:xfrm>
            <a:off x="10936224" y="6912864"/>
            <a:ext cx="109728" cy="11338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61"/>
          <p:cNvSpPr/>
          <p:nvPr/>
        </p:nvSpPr>
        <p:spPr>
          <a:xfrm>
            <a:off x="11192256" y="7004304"/>
            <a:ext cx="66568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더블클릭 리셋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61"/>
          <p:cNvSpPr/>
          <p:nvPr/>
        </p:nvSpPr>
        <p:spPr>
          <a:xfrm>
            <a:off x="11192256" y="7461504"/>
            <a:ext cx="66568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xMin0/xMax0 으로 원래 뷰 복귀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61"/>
          <p:cNvSpPr txBox="1"/>
          <p:nvPr/>
        </p:nvSpPr>
        <p:spPr>
          <a:xfrm>
            <a:off x="6019920" y="41265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Charts.js</a:t>
            </a:r>
            <a:endParaRPr sz="3000"/>
          </a:p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597" name="Google Shape;597;p61"/>
          <p:cNvSpPr txBox="1"/>
          <p:nvPr/>
        </p:nvSpPr>
        <p:spPr>
          <a:xfrm>
            <a:off x="6032520" y="984330"/>
            <a:ext cx="62229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static/js/charts.js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61"/>
          <p:cNvSpPr txBox="1"/>
          <p:nvPr/>
        </p:nvSpPr>
        <p:spPr>
          <a:xfrm>
            <a:off x="0" y="0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E1E4E8"/>
              </a:solidFill>
              <a:highlight>
                <a:srgbClr val="24292E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9" name="Google Shape;599;p61"/>
          <p:cNvSpPr txBox="1"/>
          <p:nvPr/>
        </p:nvSpPr>
        <p:spPr>
          <a:xfrm>
            <a:off x="1390650" y="1697225"/>
            <a:ext cx="7951500" cy="816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휠 줌</a:t>
            </a:r>
            <a:endParaRPr sz="12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addEventListener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"wheel"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250">
                <a:solidFill>
                  <a:srgbClr val="FFAB7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FAB7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preventDefault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getChart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();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saveOriginal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();     </a:t>
            </a:r>
            <a:r>
              <a:rPr lang="en-US" sz="12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최초 전체 범위 저장</a:t>
            </a:r>
            <a:endParaRPr sz="12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.scales.x;     </a:t>
            </a:r>
            <a:r>
              <a:rPr lang="en-US" sz="12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현재 스케일 저장</a:t>
            </a:r>
            <a:endParaRPr sz="12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curRange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.max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.min;   </a:t>
            </a:r>
            <a:r>
              <a:rPr lang="en-US" sz="12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현재 보이는 x축 구간 길이</a:t>
            </a:r>
            <a:endParaRPr sz="12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factor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FAB7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deltaY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0.8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1.25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2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확대/축소 배율</a:t>
            </a:r>
            <a:endParaRPr sz="12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newRange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curRange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factor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86400000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), xMax0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xMin0);    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새 범위 제한</a:t>
            </a:r>
            <a:endParaRPr sz="12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rect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getBoundingClientRect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ratio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250">
                <a:solidFill>
                  <a:srgbClr val="FFAB7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clientX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rect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.left)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.width;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pivot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.min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ratio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curRange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newMin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pivot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ratio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newRange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newMax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pivot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ratio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newRange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(newMin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xMin0) { newMax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xMin0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newMin; newMin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xMin0; }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(newMax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xMax0) { newMin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-=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newMax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xMax0; newMax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xMax0; }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.options.scales.x.min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newMin;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.options.scales.x.max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newMax;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"none"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}, { passive: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});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더블클릭 시 원래 저장해둔 전체 x축 범위로 복귀</a:t>
            </a:r>
            <a:endParaRPr sz="12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addEventListener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"dblclick"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getChart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();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xMin0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.options.scales.x.min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xMin0;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.options.scales.x.max </a:t>
            </a:r>
            <a:r>
              <a:rPr lang="en-US" sz="12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xMax0;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ch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2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"none"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2"/>
          <p:cNvSpPr/>
          <p:nvPr/>
        </p:nvSpPr>
        <p:spPr>
          <a:xfrm>
            <a:off x="548640" y="1737360"/>
            <a:ext cx="17190720" cy="1426464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62"/>
          <p:cNvSpPr/>
          <p:nvPr/>
        </p:nvSpPr>
        <p:spPr>
          <a:xfrm>
            <a:off x="548640" y="1737360"/>
            <a:ext cx="109728" cy="1426464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62"/>
          <p:cNvSpPr/>
          <p:nvPr/>
        </p:nvSpPr>
        <p:spPr>
          <a:xfrm>
            <a:off x="914400" y="1828800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6EE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2E6EE1"/>
                </a:solidFill>
                <a:latin typeface="Calibri"/>
                <a:ea typeface="Calibri"/>
                <a:cs typeface="Calibri"/>
                <a:sym typeface="Calibri"/>
              </a:rPr>
              <a:t>매크로(Macro)란?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62"/>
          <p:cNvSpPr/>
          <p:nvPr/>
        </p:nvSpPr>
        <p:spPr>
          <a:xfrm>
            <a:off x="914400" y="2377440"/>
            <a:ext cx="164592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Jinja2의 {% macro %} 태그로 HTML 코드 조각을 함수처럼 정의해 파라미터를 받아 동적으로 HTML을 생성하는 재사용 기법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62"/>
          <p:cNvSpPr/>
          <p:nvPr/>
        </p:nvSpPr>
        <p:spPr>
          <a:xfrm>
            <a:off x="548640" y="3438144"/>
            <a:ext cx="17190720" cy="288950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62"/>
          <p:cNvSpPr/>
          <p:nvPr/>
        </p:nvSpPr>
        <p:spPr>
          <a:xfrm>
            <a:off x="548640" y="3438144"/>
            <a:ext cx="128016" cy="2889504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62"/>
          <p:cNvSpPr/>
          <p:nvPr/>
        </p:nvSpPr>
        <p:spPr>
          <a:xfrm>
            <a:off x="548640" y="3438144"/>
            <a:ext cx="17190720" cy="76809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62"/>
          <p:cNvSpPr/>
          <p:nvPr/>
        </p:nvSpPr>
        <p:spPr>
          <a:xfrm>
            <a:off x="914400" y="3566160"/>
            <a:ext cx="91440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6EE1"/>
              </a:buClr>
              <a:buSzPts val="2600"/>
              <a:buFont typeface="Consolas"/>
              <a:buNone/>
            </a:pPr>
            <a:r>
              <a:rPr lang="en-US" sz="2600" b="1" i="0" u="none" strike="noStrike" cap="none">
                <a:solidFill>
                  <a:srgbClr val="2E6EE1"/>
                </a:solidFill>
                <a:latin typeface="Consolas"/>
                <a:ea typeface="Consolas"/>
                <a:cs typeface="Consolas"/>
                <a:sym typeface="Consolas"/>
              </a:rPr>
              <a:t>chart_toggle_macro.html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62"/>
          <p:cNvSpPr/>
          <p:nvPr/>
        </p:nvSpPr>
        <p:spPr>
          <a:xfrm>
            <a:off x="914400" y="4352544"/>
            <a:ext cx="16459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900"/>
              <a:buFont typeface="Consolas"/>
              <a:buNone/>
            </a:pPr>
            <a:r>
              <a:rPr lang="en-US" sz="1900" b="0" i="0" u="none" strike="noStrike" cap="non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파라미터: chart_id, title, subtitle, chart_data, line_label, candle_label, height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62"/>
          <p:cNvSpPr/>
          <p:nvPr/>
        </p:nvSpPr>
        <p:spPr>
          <a:xfrm>
            <a:off x="914400" y="4901184"/>
            <a:ext cx="1645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단일 매크로 호출로 캔버스 + 토글 버튼 + 초기화 스크립트를 한 번에 생성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62"/>
          <p:cNvSpPr/>
          <p:nvPr/>
        </p:nvSpPr>
        <p:spPr>
          <a:xfrm>
            <a:off x="914400" y="5486400"/>
            <a:ext cx="1645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8348"/>
              </a:buClr>
              <a:buSzPts val="1900"/>
              <a:buFont typeface="Consolas"/>
              <a:buNone/>
            </a:pPr>
            <a:r>
              <a:rPr lang="en-US" sz="1900" b="0" i="0" u="none" strike="noStrike" cap="none">
                <a:solidFill>
                  <a:srgbClr val="1D8348"/>
                </a:solidFill>
                <a:latin typeface="Consolas"/>
                <a:ea typeface="Consolas"/>
                <a:cs typeface="Consolas"/>
                <a:sym typeface="Consolas"/>
              </a:rPr>
              <a:t>사용:  {{ chart_toggle("mainEtfChart", etf.name_kr, "최근 ETF 종가 흐름", chart_data) }}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62"/>
          <p:cNvSpPr/>
          <p:nvPr/>
        </p:nvSpPr>
        <p:spPr>
          <a:xfrm>
            <a:off x="548640" y="6583680"/>
            <a:ext cx="17190720" cy="288950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62"/>
          <p:cNvSpPr/>
          <p:nvPr/>
        </p:nvSpPr>
        <p:spPr>
          <a:xfrm>
            <a:off x="548640" y="6583680"/>
            <a:ext cx="128016" cy="2889504"/>
          </a:xfrm>
          <a:prstGeom prst="rect">
            <a:avLst/>
          </a:prstGeom>
          <a:solidFill>
            <a:srgbClr val="1D8348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62"/>
          <p:cNvSpPr/>
          <p:nvPr/>
        </p:nvSpPr>
        <p:spPr>
          <a:xfrm>
            <a:off x="548640" y="6583680"/>
            <a:ext cx="17190720" cy="76809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62"/>
          <p:cNvSpPr/>
          <p:nvPr/>
        </p:nvSpPr>
        <p:spPr>
          <a:xfrm>
            <a:off x="914400" y="6711696"/>
            <a:ext cx="91440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8348"/>
              </a:buClr>
              <a:buSzPts val="2600"/>
              <a:buFont typeface="Consolas"/>
              <a:buNone/>
            </a:pPr>
            <a:r>
              <a:rPr lang="en-US" sz="2600" b="1" i="0" u="none" strike="noStrike" cap="none">
                <a:solidFill>
                  <a:srgbClr val="1D8348"/>
                </a:solidFill>
                <a:latin typeface="Consolas"/>
                <a:ea typeface="Consolas"/>
                <a:cs typeface="Consolas"/>
                <a:sym typeface="Consolas"/>
              </a:rPr>
              <a:t>stock_table_macros.html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62"/>
          <p:cNvSpPr/>
          <p:nvPr/>
        </p:nvSpPr>
        <p:spPr>
          <a:xfrm>
            <a:off x="914400" y="7498080"/>
            <a:ext cx="16459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900"/>
              <a:buFont typeface="Consolas"/>
              <a:buNone/>
            </a:pPr>
            <a:r>
              <a:rPr lang="en-US" sz="1900" b="0" i="0" u="none" strike="noStrike" cap="non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파라미터: stocks, limit=5, mode ("mini" | "table")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62"/>
          <p:cNvSpPr/>
          <p:nvPr/>
        </p:nvSpPr>
        <p:spPr>
          <a:xfrm>
            <a:off x="914400" y="8046720"/>
            <a:ext cx="1645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stock_items 매크로가 mini/table 두 모드를 처리 → 홈·랭킹 페이지 모두 재사용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62"/>
          <p:cNvSpPr/>
          <p:nvPr/>
        </p:nvSpPr>
        <p:spPr>
          <a:xfrm>
            <a:off x="914400" y="8631936"/>
            <a:ext cx="1645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8348"/>
              </a:buClr>
              <a:buSzPts val="1900"/>
              <a:buFont typeface="Consolas"/>
              <a:buNone/>
            </a:pPr>
            <a:r>
              <a:rPr lang="en-US" sz="1900" b="0" i="0" u="none" strike="noStrike" cap="none">
                <a:solidFill>
                  <a:srgbClr val="1D8348"/>
                </a:solidFill>
                <a:latin typeface="Consolas"/>
                <a:ea typeface="Consolas"/>
                <a:cs typeface="Consolas"/>
                <a:sym typeface="Consolas"/>
              </a:rPr>
              <a:t>사용:  {{ stock_mini_card(defense_stocks | sort(attribute="change", reverse=True), 4) }}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62"/>
          <p:cNvSpPr txBox="1"/>
          <p:nvPr/>
        </p:nvSpPr>
        <p:spPr>
          <a:xfrm>
            <a:off x="6019920" y="60315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Jinja2 매크로</a:t>
            </a:r>
            <a:endParaRPr sz="3000"/>
          </a:p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3"/>
          <p:cNvSpPr/>
          <p:nvPr/>
        </p:nvSpPr>
        <p:spPr>
          <a:xfrm>
            <a:off x="548640" y="15444216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500"/>
              <a:buFont typeface="Consolas"/>
              <a:buNone/>
            </a:pPr>
            <a:r>
              <a:rPr lang="en-US" sz="1500" b="0" i="0" u="none" strike="noStrike" cap="none">
                <a:solidFill>
                  <a:srgbClr val="BBBBBB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63"/>
          <p:cNvSpPr/>
          <p:nvPr/>
        </p:nvSpPr>
        <p:spPr>
          <a:xfrm>
            <a:off x="1078992" y="15444216"/>
            <a:ext cx="9546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3"/>
          <p:cNvSpPr txBox="1"/>
          <p:nvPr/>
        </p:nvSpPr>
        <p:spPr>
          <a:xfrm>
            <a:off x="6019920" y="41265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00"/>
              <a:t>chart_toggle_macro.html</a:t>
            </a:r>
            <a:endParaRPr sz="3000"/>
          </a:p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632" name="Google Shape;632;p63"/>
          <p:cNvSpPr txBox="1"/>
          <p:nvPr/>
        </p:nvSpPr>
        <p:spPr>
          <a:xfrm>
            <a:off x="1210050" y="1492350"/>
            <a:ext cx="8147400" cy="747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{% macro chart_toggle(chart_id, title, subtitle, chart_data, 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line_label='ETF 종가', candle_label='ETF 가격', height='400px') %}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2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"chart-card"</a:t>
            </a:r>
            <a:r>
              <a:rPr lang="en-US" sz="12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"btn-group"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role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"group"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aria-label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"chart toggle"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switchChart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('{{ chart_id }}', 'candle')"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&gt;Candle&lt;/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switchChart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('{{ chart_id }}', 'line')"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&gt;Line&lt;/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"chart-container"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"{{ chart_id }}"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script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/*페이지 로드 시 차트 데이터 초기화 및 기본 차트 출력*/</a:t>
            </a:r>
            <a:endParaRPr sz="10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addEventListener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"DOMContentLoaded"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전역 변수 window.chartRawData에 차트 설정값 저장 (JS 파일에서 접근 가능하도록)</a:t>
            </a:r>
            <a:endParaRPr sz="10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window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.chartRawData </a:t>
            </a:r>
            <a:r>
              <a:rPr lang="en-US" sz="10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window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.chartRawData </a:t>
            </a:r>
            <a:r>
              <a:rPr lang="en-US" sz="10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{};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79B8FF"/>
                </a:solidFill>
                <a:latin typeface="Consolas"/>
                <a:ea typeface="Consolas"/>
                <a:cs typeface="Consolas"/>
                <a:sym typeface="Consolas"/>
              </a:rPr>
              <a:t>window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.chartRawData[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"{{ chart_id }}"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US" sz="10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raw: {{ chart_data </a:t>
            </a:r>
            <a:r>
              <a:rPr lang="en-US" sz="10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tojson }}, </a:t>
            </a:r>
            <a:r>
              <a:rPr lang="en-US" sz="10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서버 데이터를 JSON 형식으로 안전하게 변환</a:t>
            </a:r>
            <a:endParaRPr sz="10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lineLabel: 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"{{ line_label }}"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candleLabel: 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"{{ candle_label }}"</a:t>
            </a:r>
            <a:endParaRPr sz="1050">
              <a:solidFill>
                <a:srgbClr val="9ECB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};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초기 실행 시 'candle' 타입으로 차트 렌더링 시작</a:t>
            </a:r>
            <a:endParaRPr sz="10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0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typeof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switchChart </a:t>
            </a:r>
            <a:r>
              <a:rPr lang="en-US" sz="1050">
                <a:solidFill>
                  <a:srgbClr val="F97583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"function"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switchChart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"{{ chart_id }}"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"candle"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script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{% endmacro %}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3" name="Google Shape;633;p63"/>
          <p:cNvSpPr/>
          <p:nvPr/>
        </p:nvSpPr>
        <p:spPr>
          <a:xfrm>
            <a:off x="10936224" y="1645920"/>
            <a:ext cx="6986100" cy="1134000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63"/>
          <p:cNvSpPr/>
          <p:nvPr/>
        </p:nvSpPr>
        <p:spPr>
          <a:xfrm>
            <a:off x="10936224" y="1645920"/>
            <a:ext cx="109800" cy="113400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63"/>
          <p:cNvSpPr/>
          <p:nvPr/>
        </p:nvSpPr>
        <p:spPr>
          <a:xfrm>
            <a:off x="11192256" y="1737360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매크로 = HTML 함수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63"/>
          <p:cNvSpPr/>
          <p:nvPr/>
        </p:nvSpPr>
        <p:spPr>
          <a:xfrm>
            <a:off x="11192256" y="2194560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{% macro %} ~ {% endmacro %} 파라미터 받아 HTML 생성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63"/>
          <p:cNvSpPr/>
          <p:nvPr/>
        </p:nvSpPr>
        <p:spPr>
          <a:xfrm>
            <a:off x="10936224" y="2962656"/>
            <a:ext cx="6986100" cy="1134000"/>
          </a:xfrm>
          <a:prstGeom prst="rect">
            <a:avLst/>
          </a:prstGeom>
          <a:solidFill>
            <a:srgbClr val="E9F7E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63"/>
          <p:cNvSpPr/>
          <p:nvPr/>
        </p:nvSpPr>
        <p:spPr>
          <a:xfrm>
            <a:off x="10936224" y="2962656"/>
            <a:ext cx="109800" cy="1134000"/>
          </a:xfrm>
          <a:prstGeom prst="rect">
            <a:avLst/>
          </a:prstGeom>
          <a:solidFill>
            <a:srgbClr val="1D8348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63"/>
          <p:cNvSpPr/>
          <p:nvPr/>
        </p:nvSpPr>
        <p:spPr>
          <a:xfrm>
            <a:off x="11192256" y="3054096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기본값(default) 파라미터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63"/>
          <p:cNvSpPr/>
          <p:nvPr/>
        </p:nvSpPr>
        <p:spPr>
          <a:xfrm>
            <a:off x="11192256" y="3511296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line_label='ETF 종가' → 호출 시 생략 가능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63"/>
          <p:cNvSpPr/>
          <p:nvPr/>
        </p:nvSpPr>
        <p:spPr>
          <a:xfrm>
            <a:off x="10936224" y="4279392"/>
            <a:ext cx="6986100" cy="1134000"/>
          </a:xfrm>
          <a:prstGeom prst="rect">
            <a:avLst/>
          </a:prstGeom>
          <a:solidFill>
            <a:srgbClr val="EDE9FE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63"/>
          <p:cNvSpPr/>
          <p:nvPr/>
        </p:nvSpPr>
        <p:spPr>
          <a:xfrm>
            <a:off x="10936224" y="4279392"/>
            <a:ext cx="109800" cy="113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63"/>
          <p:cNvSpPr/>
          <p:nvPr/>
        </p:nvSpPr>
        <p:spPr>
          <a:xfrm>
            <a:off x="11192256" y="4370832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{{ chart_id }} 네임스페이스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63"/>
          <p:cNvSpPr/>
          <p:nvPr/>
        </p:nvSpPr>
        <p:spPr>
          <a:xfrm>
            <a:off x="11192256" y="4828032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동일 페이지 차트 여러 개 삽입 시 ID 충돌 방지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63"/>
          <p:cNvSpPr/>
          <p:nvPr/>
        </p:nvSpPr>
        <p:spPr>
          <a:xfrm>
            <a:off x="10936224" y="5596128"/>
            <a:ext cx="6986100" cy="1134000"/>
          </a:xfrm>
          <a:prstGeom prst="rect">
            <a:avLst/>
          </a:prstGeom>
          <a:solidFill>
            <a:srgbClr val="FEF9E7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63"/>
          <p:cNvSpPr/>
          <p:nvPr/>
        </p:nvSpPr>
        <p:spPr>
          <a:xfrm>
            <a:off x="10936224" y="5596128"/>
            <a:ext cx="109800" cy="1134000"/>
          </a:xfrm>
          <a:prstGeom prst="rect">
            <a:avLst/>
          </a:prstGeom>
          <a:solidFill>
            <a:srgbClr val="7D6608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63"/>
          <p:cNvSpPr/>
          <p:nvPr/>
        </p:nvSpPr>
        <p:spPr>
          <a:xfrm>
            <a:off x="11192256" y="5687568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tojson 필터 — XSS 방어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63"/>
          <p:cNvSpPr/>
          <p:nvPr/>
        </p:nvSpPr>
        <p:spPr>
          <a:xfrm>
            <a:off x="11192256" y="6144768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Python 객체 → JS-safe JSON 자동 이스케이프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3"/>
          <p:cNvSpPr/>
          <p:nvPr/>
        </p:nvSpPr>
        <p:spPr>
          <a:xfrm>
            <a:off x="10936224" y="6912864"/>
            <a:ext cx="6986100" cy="1134000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63"/>
          <p:cNvSpPr/>
          <p:nvPr/>
        </p:nvSpPr>
        <p:spPr>
          <a:xfrm>
            <a:off x="10936224" y="6912864"/>
            <a:ext cx="109800" cy="113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63"/>
          <p:cNvSpPr/>
          <p:nvPr/>
        </p:nvSpPr>
        <p:spPr>
          <a:xfrm>
            <a:off x="11192256" y="7004304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호출 한 줄로 완성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63"/>
          <p:cNvSpPr/>
          <p:nvPr/>
        </p:nvSpPr>
        <p:spPr>
          <a:xfrm>
            <a:off x="11192256" y="7461504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{{ chart_toggle('mainEtfChart', etf.name_kr, ...) }}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4"/>
          <p:cNvSpPr/>
          <p:nvPr/>
        </p:nvSpPr>
        <p:spPr>
          <a:xfrm>
            <a:off x="548640" y="15444216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500"/>
              <a:buFont typeface="Consolas"/>
              <a:buNone/>
            </a:pPr>
            <a:r>
              <a:rPr lang="en-US" sz="1500" b="0" i="0" u="none" strike="noStrike" cap="none">
                <a:solidFill>
                  <a:srgbClr val="BBBBBB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64"/>
          <p:cNvSpPr/>
          <p:nvPr/>
        </p:nvSpPr>
        <p:spPr>
          <a:xfrm>
            <a:off x="1078992" y="15444216"/>
            <a:ext cx="9546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64"/>
          <p:cNvSpPr txBox="1"/>
          <p:nvPr/>
        </p:nvSpPr>
        <p:spPr>
          <a:xfrm>
            <a:off x="6019920" y="41265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stock_table_macros.html</a:t>
            </a:r>
            <a:endParaRPr sz="3000"/>
          </a:p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661" name="Google Shape;661;p64"/>
          <p:cNvSpPr txBox="1"/>
          <p:nvPr/>
        </p:nvSpPr>
        <p:spPr>
          <a:xfrm>
            <a:off x="1210050" y="1492350"/>
            <a:ext cx="8147400" cy="800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{% macro stock_items(stocks, limit=5, mode='mini') %}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{% for stock in stocks[:limit] %}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{# --- 미니 모드: 홈 화면이나 대시보드 사이드바에 주로 사용됩니다. --- #}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{% if mode == 'mini' %}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"{{ url_for('stock_detail.show_stock_chart', ticker=stock.ticker) }}"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{# 종목의 순위를 숫자로 표시합니다. #}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"stock-rank"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&gt;{{ loop.index }}&lt;/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{# 종목명과 거래대금 정보를 표시합니다. #}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"stock-info"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"stock-name"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&gt;{{ stock.name }}&lt;/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&gt;거래대금 {{ stock.value }}억원&lt;/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{# 가격과 전일 대비 등락률을 표시합니다. #}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"stock-change"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"stock-price"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&gt;{{ "{:,.0f}".format(stock.price) }}원&lt;/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{# 등락률이 양수/음수/보통인지에 따라 색상을 다르게 적용합니다. #}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"stock-rate {{ 'positive' if stock.change &gt; 0 else 'negative' if stock.change </a:t>
            </a:r>
            <a:r>
              <a:rPr lang="en-US" sz="1050" i="1">
                <a:solidFill>
                  <a:srgbClr val="FDAEB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 0 else 'neutral' }}"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    {{ '+' if stock.change &gt; 0 else '' }}{{ stock.change }}%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    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{% endfor %}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{% endmacro %}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{# [2. stock_mini_card 매크로] #}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{# 위에서 만든 stock_items를 'mini' 모드로 호출하여 카드 상자 안에 담아주는 래퍼(Wrapper)입니다. #}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{% macro stock_mini_card(stocks, limit=5) %}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"card border-0 p-2"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"border-radius: 20px;"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392F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9ECBFF"/>
                </a:solidFill>
                <a:latin typeface="Consolas"/>
                <a:ea typeface="Consolas"/>
                <a:cs typeface="Consolas"/>
                <a:sym typeface="Consolas"/>
              </a:rPr>
              <a:t>"stock-mini-list"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{# 재사용성을 극대화하기 위해 내부에서 stock_items 매크로를 호출합니다. #}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    {{ stock_items(stocks, limit, 'mini') }}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85E89D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1E4E8"/>
                </a:solidFill>
                <a:latin typeface="Consolas"/>
                <a:ea typeface="Consolas"/>
                <a:cs typeface="Consolas"/>
                <a:sym typeface="Consolas"/>
              </a:rPr>
              <a:t>{% endmacro %}</a:t>
            </a:r>
            <a:endParaRPr sz="10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>
              <a:solidFill>
                <a:srgbClr val="E1E4E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2" name="Google Shape;662;p64"/>
          <p:cNvSpPr/>
          <p:nvPr/>
        </p:nvSpPr>
        <p:spPr>
          <a:xfrm>
            <a:off x="10936224" y="1645920"/>
            <a:ext cx="6986100" cy="1134000"/>
          </a:xfrm>
          <a:prstGeom prst="rect">
            <a:avLst/>
          </a:prstGeom>
          <a:solidFill>
            <a:srgbClr val="EBF1F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64"/>
          <p:cNvSpPr/>
          <p:nvPr/>
        </p:nvSpPr>
        <p:spPr>
          <a:xfrm>
            <a:off x="10936224" y="1645920"/>
            <a:ext cx="109800" cy="113400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64"/>
          <p:cNvSpPr/>
          <p:nvPr/>
        </p:nvSpPr>
        <p:spPr>
          <a:xfrm>
            <a:off x="11192256" y="1737360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mode 파라미터로 듀얼 렌더링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64"/>
          <p:cNvSpPr/>
          <p:nvPr/>
        </p:nvSpPr>
        <p:spPr>
          <a:xfrm>
            <a:off x="11192256" y="2194560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mini → 홈 카드 / table → 랭킹 페이지 표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64"/>
          <p:cNvSpPr/>
          <p:nvPr/>
        </p:nvSpPr>
        <p:spPr>
          <a:xfrm>
            <a:off x="10936224" y="2962656"/>
            <a:ext cx="6986100" cy="1134000"/>
          </a:xfrm>
          <a:prstGeom prst="rect">
            <a:avLst/>
          </a:prstGeom>
          <a:solidFill>
            <a:srgbClr val="E9F7EF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64"/>
          <p:cNvSpPr/>
          <p:nvPr/>
        </p:nvSpPr>
        <p:spPr>
          <a:xfrm>
            <a:off x="10936224" y="2962656"/>
            <a:ext cx="109800" cy="1134000"/>
          </a:xfrm>
          <a:prstGeom prst="rect">
            <a:avLst/>
          </a:prstGeom>
          <a:solidFill>
            <a:srgbClr val="1D8348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64"/>
          <p:cNvSpPr/>
          <p:nvPr/>
        </p:nvSpPr>
        <p:spPr>
          <a:xfrm>
            <a:off x="11192256" y="3054096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stocks[:limit] 슬라이싱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64"/>
          <p:cNvSpPr/>
          <p:nvPr/>
        </p:nvSpPr>
        <p:spPr>
          <a:xfrm>
            <a:off x="11192256" y="3511296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Python 슬라이싱을 Jinja2에서 그대로 사용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10936224" y="4279392"/>
            <a:ext cx="6986100" cy="1134000"/>
          </a:xfrm>
          <a:prstGeom prst="rect">
            <a:avLst/>
          </a:prstGeom>
          <a:solidFill>
            <a:srgbClr val="FEF9E7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64"/>
          <p:cNvSpPr/>
          <p:nvPr/>
        </p:nvSpPr>
        <p:spPr>
          <a:xfrm>
            <a:off x="10936224" y="4279392"/>
            <a:ext cx="109800" cy="1134000"/>
          </a:xfrm>
          <a:prstGeom prst="rect">
            <a:avLst/>
          </a:prstGeom>
          <a:solidFill>
            <a:srgbClr val="7D6608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64"/>
          <p:cNvSpPr/>
          <p:nvPr/>
        </p:nvSpPr>
        <p:spPr>
          <a:xfrm>
            <a:off x="11192256" y="4370832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loop.index 자동 순위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64"/>
          <p:cNvSpPr/>
          <p:nvPr/>
        </p:nvSpPr>
        <p:spPr>
          <a:xfrm>
            <a:off x="11192256" y="4828032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for 루프 변수로 별도 카운터 없이 순위 표시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64"/>
          <p:cNvSpPr/>
          <p:nvPr/>
        </p:nvSpPr>
        <p:spPr>
          <a:xfrm>
            <a:off x="10936224" y="5596128"/>
            <a:ext cx="6986100" cy="1134000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64"/>
          <p:cNvSpPr/>
          <p:nvPr/>
        </p:nvSpPr>
        <p:spPr>
          <a:xfrm>
            <a:off x="10936224" y="5596128"/>
            <a:ext cx="109800" cy="113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64"/>
          <p:cNvSpPr/>
          <p:nvPr/>
        </p:nvSpPr>
        <p:spPr>
          <a:xfrm>
            <a:off x="11192256" y="5687568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인라인 삼항 조건 CSS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64"/>
          <p:cNvSpPr/>
          <p:nvPr/>
        </p:nvSpPr>
        <p:spPr>
          <a:xfrm>
            <a:off x="11192256" y="6144768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positive / negative / neutral 한 줄 조건식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64"/>
          <p:cNvSpPr/>
          <p:nvPr/>
        </p:nvSpPr>
        <p:spPr>
          <a:xfrm>
            <a:off x="10936224" y="6912864"/>
            <a:ext cx="6986100" cy="1134000"/>
          </a:xfrm>
          <a:prstGeom prst="rect">
            <a:avLst/>
          </a:prstGeom>
          <a:solidFill>
            <a:srgbClr val="EDE9FE"/>
          </a:solidFill>
          <a:ln w="9525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64"/>
          <p:cNvSpPr/>
          <p:nvPr/>
        </p:nvSpPr>
        <p:spPr>
          <a:xfrm>
            <a:off x="10936224" y="6912864"/>
            <a:ext cx="109800" cy="113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64"/>
          <p:cNvSpPr/>
          <p:nvPr/>
        </p:nvSpPr>
        <p:spPr>
          <a:xfrm>
            <a:off x="11192256" y="7004304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▶  {:,.0f} 천 단위 포맷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64"/>
          <p:cNvSpPr/>
          <p:nvPr/>
        </p:nvSpPr>
        <p:spPr>
          <a:xfrm>
            <a:off x="11192256" y="7461504"/>
            <a:ext cx="665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Python format 문자열 → 24,450원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5"/>
          <p:cNvSpPr/>
          <p:nvPr/>
        </p:nvSpPr>
        <p:spPr>
          <a:xfrm>
            <a:off x="909036" y="1737367"/>
            <a:ext cx="8412600" cy="7955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65"/>
          <p:cNvSpPr/>
          <p:nvPr/>
        </p:nvSpPr>
        <p:spPr>
          <a:xfrm>
            <a:off x="909036" y="1737367"/>
            <a:ext cx="8412600" cy="80460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65"/>
          <p:cNvSpPr/>
          <p:nvPr/>
        </p:nvSpPr>
        <p:spPr>
          <a:xfrm>
            <a:off x="1165068" y="1828807"/>
            <a:ext cx="78639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log_card.html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65"/>
          <p:cNvSpPr/>
          <p:nvPr/>
        </p:nvSpPr>
        <p:spPr>
          <a:xfrm>
            <a:off x="1677132" y="2889511"/>
            <a:ext cx="73152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session 체크로 로그인 상태 분기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65"/>
          <p:cNvSpPr/>
          <p:nvPr/>
        </p:nvSpPr>
        <p:spPr>
          <a:xfrm>
            <a:off x="1677132" y="3840487"/>
            <a:ext cx="73152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total / buy / sell count 요약 표시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65"/>
          <p:cNvSpPr/>
          <p:nvPr/>
        </p:nvSpPr>
        <p:spPr>
          <a:xfrm>
            <a:off x="1677132" y="4791463"/>
            <a:ext cx="73152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BUY/SELL → buy / sell CSS 클래스 분기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65"/>
          <p:cNvSpPr/>
          <p:nvPr/>
        </p:nvSpPr>
        <p:spPr>
          <a:xfrm>
            <a:off x="1677132" y="5742439"/>
            <a:ext cx="73152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strftime('%H:%M') 거래 시간 포맷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65"/>
          <p:cNvSpPr/>
          <p:nvPr/>
        </p:nvSpPr>
        <p:spPr>
          <a:xfrm>
            <a:off x="1677132" y="6693415"/>
            <a:ext cx="73152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스크롤 가능 목록 (CSS overflow)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65"/>
          <p:cNvSpPr/>
          <p:nvPr/>
        </p:nvSpPr>
        <p:spPr>
          <a:xfrm>
            <a:off x="1677132" y="7644391"/>
            <a:ext cx="73152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strategy or '전략 없음' None 폴백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65"/>
          <p:cNvSpPr txBox="1"/>
          <p:nvPr/>
        </p:nvSpPr>
        <p:spPr>
          <a:xfrm>
            <a:off x="6019920" y="41265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거래 내역</a:t>
            </a:r>
            <a:endParaRPr sz="3000"/>
          </a:p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pic>
        <p:nvPicPr>
          <p:cNvPr id="697" name="Google Shape;69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1297" y="2101950"/>
            <a:ext cx="6248400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6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3B4EC8"/>
          </a:solidFill>
          <a:ln w="12700" cap="flat" cmpd="sng">
            <a:solidFill>
              <a:srgbClr val="3B4E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66"/>
          <p:cNvSpPr/>
          <p:nvPr/>
        </p:nvSpPr>
        <p:spPr>
          <a:xfrm>
            <a:off x="822960" y="0"/>
            <a:ext cx="16642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[AI QUANT]  종목 리스트 페이지 (/stocks)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66"/>
          <p:cNvSpPr/>
          <p:nvPr/>
        </p:nvSpPr>
        <p:spPr>
          <a:xfrm>
            <a:off x="548640" y="1463040"/>
            <a:ext cx="10972800" cy="8229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6" name="Google Shape;706;p66" descr="/home/claude/extracted_imgs/slide1_img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554480"/>
            <a:ext cx="10789920" cy="804672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66"/>
          <p:cNvSpPr/>
          <p:nvPr/>
        </p:nvSpPr>
        <p:spPr>
          <a:xfrm>
            <a:off x="11887200" y="1463040"/>
            <a:ext cx="5852160" cy="8229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66"/>
          <p:cNvSpPr/>
          <p:nvPr/>
        </p:nvSpPr>
        <p:spPr>
          <a:xfrm>
            <a:off x="11887200" y="1463040"/>
            <a:ext cx="5852160" cy="512064"/>
          </a:xfrm>
          <a:prstGeom prst="rect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66"/>
          <p:cNvSpPr/>
          <p:nvPr/>
        </p:nvSpPr>
        <p:spPr>
          <a:xfrm>
            <a:off x="12070080" y="1444752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update_stock_price.py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66"/>
          <p:cNvSpPr/>
          <p:nvPr/>
        </p:nvSpPr>
        <p:spPr>
          <a:xfrm>
            <a:off x="12161520" y="219456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5FD5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4F5FD5"/>
                </a:solidFill>
                <a:latin typeface="Calibri"/>
                <a:ea typeface="Calibri"/>
                <a:cs typeface="Calibri"/>
                <a:sym typeface="Calibri"/>
              </a:rPr>
              <a:t>공공데이터포털 외부 API</a:t>
            </a:r>
            <a:r>
              <a:rPr lang="en-US" sz="24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를 통해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주식 시세 정보를 DB에 저장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66"/>
          <p:cNvSpPr/>
          <p:nvPr/>
        </p:nvSpPr>
        <p:spPr>
          <a:xfrm>
            <a:off x="12161520" y="4901184"/>
            <a:ext cx="548640" cy="548640"/>
          </a:xfrm>
          <a:prstGeom prst="ellipse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66"/>
          <p:cNvSpPr/>
          <p:nvPr/>
        </p:nvSpPr>
        <p:spPr>
          <a:xfrm>
            <a:off x="12161520" y="49011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66"/>
          <p:cNvSpPr/>
          <p:nvPr/>
        </p:nvSpPr>
        <p:spPr>
          <a:xfrm>
            <a:off x="12893040" y="475488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06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금융위원회 주식시세정보 API 엔드포인트 호출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66"/>
          <p:cNvSpPr/>
          <p:nvPr/>
        </p:nvSpPr>
        <p:spPr>
          <a:xfrm>
            <a:off x="12161520" y="6400800"/>
            <a:ext cx="548640" cy="548640"/>
          </a:xfrm>
          <a:prstGeom prst="ellipse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66"/>
          <p:cNvSpPr/>
          <p:nvPr/>
        </p:nvSpPr>
        <p:spPr>
          <a:xfrm>
            <a:off x="12161520" y="6400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66"/>
          <p:cNvSpPr/>
          <p:nvPr/>
        </p:nvSpPr>
        <p:spPr>
          <a:xfrm>
            <a:off x="12893040" y="6254496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06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safe_int() 함수로 데이터 타입 정제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66"/>
          <p:cNvSpPr/>
          <p:nvPr/>
        </p:nvSpPr>
        <p:spPr>
          <a:xfrm>
            <a:off x="12161520" y="7900416"/>
            <a:ext cx="548640" cy="548640"/>
          </a:xfrm>
          <a:prstGeom prst="ellipse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66"/>
          <p:cNvSpPr/>
          <p:nvPr/>
        </p:nvSpPr>
        <p:spPr>
          <a:xfrm>
            <a:off x="12161520" y="790041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66"/>
          <p:cNvSpPr/>
          <p:nvPr/>
        </p:nvSpPr>
        <p:spPr>
          <a:xfrm>
            <a:off x="12893040" y="7754112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06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DB에 종목 시세 정보 저장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7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3B4EC8"/>
          </a:solidFill>
          <a:ln w="12700" cap="flat" cmpd="sng">
            <a:solidFill>
              <a:srgbClr val="3B4E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67"/>
          <p:cNvSpPr/>
          <p:nvPr/>
        </p:nvSpPr>
        <p:spPr>
          <a:xfrm>
            <a:off x="822960" y="0"/>
            <a:ext cx="16642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[AI QUANT]  종목 리스트 페이지 (/stocks)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67"/>
          <p:cNvSpPr/>
          <p:nvPr/>
        </p:nvSpPr>
        <p:spPr>
          <a:xfrm>
            <a:off x="548640" y="1463040"/>
            <a:ext cx="10607040" cy="3840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8" name="Google Shape;728;p67" descr="/home/claude/extracted_imgs/slide2_img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554480"/>
            <a:ext cx="1042416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67"/>
          <p:cNvSpPr/>
          <p:nvPr/>
        </p:nvSpPr>
        <p:spPr>
          <a:xfrm>
            <a:off x="548640" y="5669280"/>
            <a:ext cx="10607040" cy="4023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0" name="Google Shape;730;p67" descr="/home/claude/extracted_imgs/slide2_img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5760720"/>
            <a:ext cx="1042416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67"/>
          <p:cNvSpPr/>
          <p:nvPr/>
        </p:nvSpPr>
        <p:spPr>
          <a:xfrm>
            <a:off x="11521440" y="1463040"/>
            <a:ext cx="6217920" cy="3840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67"/>
          <p:cNvSpPr/>
          <p:nvPr/>
        </p:nvSpPr>
        <p:spPr>
          <a:xfrm>
            <a:off x="11521440" y="1463040"/>
            <a:ext cx="6217920" cy="512064"/>
          </a:xfrm>
          <a:prstGeom prst="rect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67"/>
          <p:cNvSpPr/>
          <p:nvPr/>
        </p:nvSpPr>
        <p:spPr>
          <a:xfrm>
            <a:off x="11704320" y="1444752"/>
            <a:ext cx="58521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chemeClr val="lt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app.py</a:t>
            </a: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-&gt; </a:t>
            </a: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stocks.py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7"/>
          <p:cNvSpPr/>
          <p:nvPr/>
        </p:nvSpPr>
        <p:spPr>
          <a:xfrm>
            <a:off x="11704320" y="2157984"/>
            <a:ext cx="576072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Flask Blueprint를 사용해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/stocks 라우팅 처리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get_defense_data() 호출 후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stock_list.html 렌더링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67"/>
          <p:cNvSpPr/>
          <p:nvPr/>
        </p:nvSpPr>
        <p:spPr>
          <a:xfrm>
            <a:off x="11521440" y="5669280"/>
            <a:ext cx="6217920" cy="4023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67"/>
          <p:cNvSpPr/>
          <p:nvPr/>
        </p:nvSpPr>
        <p:spPr>
          <a:xfrm>
            <a:off x="11521440" y="5669280"/>
            <a:ext cx="6217920" cy="512064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67"/>
          <p:cNvSpPr/>
          <p:nvPr/>
        </p:nvSpPr>
        <p:spPr>
          <a:xfrm>
            <a:off x="11704320" y="5650992"/>
            <a:ext cx="58521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stock_service.py — get_defense_data()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67"/>
          <p:cNvSpPr/>
          <p:nvPr/>
        </p:nvSpPr>
        <p:spPr>
          <a:xfrm>
            <a:off x="11704320" y="6364224"/>
            <a:ext cx="576072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DB에 저장된 방산주 리스트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(가격, 등락률 등) 조회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9" name="Google Shape;739;p67"/>
          <p:cNvCxnSpPr/>
          <p:nvPr/>
        </p:nvCxnSpPr>
        <p:spPr>
          <a:xfrm rot="10800000" flipH="1">
            <a:off x="1840575" y="4647500"/>
            <a:ext cx="1131900" cy="1076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0" name="Google Shape;740;p67"/>
          <p:cNvSpPr/>
          <p:nvPr/>
        </p:nvSpPr>
        <p:spPr>
          <a:xfrm>
            <a:off x="1812975" y="4316150"/>
            <a:ext cx="3478800" cy="414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67"/>
          <p:cNvSpPr/>
          <p:nvPr/>
        </p:nvSpPr>
        <p:spPr>
          <a:xfrm>
            <a:off x="4129113" y="4900769"/>
            <a:ext cx="1977600" cy="352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8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3B4EC8"/>
          </a:solidFill>
          <a:ln w="12700" cap="flat" cmpd="sng">
            <a:solidFill>
              <a:srgbClr val="3B4E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68"/>
          <p:cNvSpPr/>
          <p:nvPr/>
        </p:nvSpPr>
        <p:spPr>
          <a:xfrm>
            <a:off x="822960" y="0"/>
            <a:ext cx="16642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[AI QUANT]  종목 리스트 페이지 (/stocks)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68"/>
          <p:cNvSpPr/>
          <p:nvPr/>
        </p:nvSpPr>
        <p:spPr>
          <a:xfrm>
            <a:off x="548640" y="1463040"/>
            <a:ext cx="10607040" cy="47548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68"/>
          <p:cNvSpPr/>
          <p:nvPr/>
        </p:nvSpPr>
        <p:spPr>
          <a:xfrm>
            <a:off x="548640" y="6492240"/>
            <a:ext cx="10607040" cy="3108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1" name="Google Shape;751;p68" descr="/home/claude/extracted_imgs/slide3_img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6583680"/>
            <a:ext cx="1042416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8"/>
          <p:cNvSpPr/>
          <p:nvPr/>
        </p:nvSpPr>
        <p:spPr>
          <a:xfrm>
            <a:off x="11521440" y="1463040"/>
            <a:ext cx="6217920" cy="47548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8"/>
          <p:cNvSpPr/>
          <p:nvPr/>
        </p:nvSpPr>
        <p:spPr>
          <a:xfrm>
            <a:off x="11521440" y="1463040"/>
            <a:ext cx="6217920" cy="512064"/>
          </a:xfrm>
          <a:prstGeom prst="rect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8"/>
          <p:cNvSpPr/>
          <p:nvPr/>
        </p:nvSpPr>
        <p:spPr>
          <a:xfrm>
            <a:off x="11704320" y="1444752"/>
            <a:ext cx="58521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stock_table_macros.html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68"/>
          <p:cNvSpPr/>
          <p:nvPr/>
        </p:nvSpPr>
        <p:spPr>
          <a:xfrm>
            <a:off x="11704320" y="2157984"/>
            <a:ext cx="576072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stock_list.html에서 사용할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종목 테이블 리스트를 매크로로 정의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stock_rank_table() 매크로 호출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68"/>
          <p:cNvSpPr/>
          <p:nvPr/>
        </p:nvSpPr>
        <p:spPr>
          <a:xfrm>
            <a:off x="11521440" y="6492240"/>
            <a:ext cx="6217920" cy="3108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8"/>
          <p:cNvSpPr/>
          <p:nvPr/>
        </p:nvSpPr>
        <p:spPr>
          <a:xfrm>
            <a:off x="11521440" y="6492240"/>
            <a:ext cx="6217920" cy="512064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68"/>
          <p:cNvSpPr/>
          <p:nvPr/>
        </p:nvSpPr>
        <p:spPr>
          <a:xfrm>
            <a:off x="11704320" y="6473952"/>
            <a:ext cx="58521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stock_list.html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68"/>
          <p:cNvSpPr/>
          <p:nvPr/>
        </p:nvSpPr>
        <p:spPr>
          <a:xfrm>
            <a:off x="11704320" y="7187184"/>
            <a:ext cx="576072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/stocks 라우팅 시 출력되는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최종 화면 템플릿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K-방산 전일 기준 목록 렌더링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68"/>
          <p:cNvSpPr/>
          <p:nvPr/>
        </p:nvSpPr>
        <p:spPr>
          <a:xfrm>
            <a:off x="1150375" y="8015700"/>
            <a:ext cx="9580200" cy="414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61" name="Google Shape;761;p68"/>
          <p:cNvCxnSpPr/>
          <p:nvPr/>
        </p:nvCxnSpPr>
        <p:spPr>
          <a:xfrm>
            <a:off x="1937200" y="6262575"/>
            <a:ext cx="151800" cy="1683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62" name="Google Shape;76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562" y="1720573"/>
            <a:ext cx="9879201" cy="44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9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3B4EC8"/>
          </a:solidFill>
          <a:ln w="12700" cap="flat" cmpd="sng">
            <a:solidFill>
              <a:srgbClr val="3B4E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69"/>
          <p:cNvSpPr/>
          <p:nvPr/>
        </p:nvSpPr>
        <p:spPr>
          <a:xfrm>
            <a:off x="822960" y="0"/>
            <a:ext cx="16642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[AI QUANT]  종목 리스트 페이지 (/stocks)  —  설계 의도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69"/>
          <p:cNvSpPr/>
          <p:nvPr/>
        </p:nvSpPr>
        <p:spPr>
          <a:xfrm>
            <a:off x="548640" y="1463040"/>
            <a:ext cx="11338560" cy="8229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Google Shape;771;p69" descr="/home/claude/extracted_imgs/slide4_img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554480"/>
            <a:ext cx="11155680" cy="804672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9"/>
          <p:cNvSpPr/>
          <p:nvPr/>
        </p:nvSpPr>
        <p:spPr>
          <a:xfrm>
            <a:off x="12252960" y="1463040"/>
            <a:ext cx="5486400" cy="8229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9"/>
          <p:cNvSpPr/>
          <p:nvPr/>
        </p:nvSpPr>
        <p:spPr>
          <a:xfrm>
            <a:off x="12252960" y="1463040"/>
            <a:ext cx="5486400" cy="512064"/>
          </a:xfrm>
          <a:prstGeom prst="rect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69"/>
          <p:cNvSpPr/>
          <p:nvPr/>
        </p:nvSpPr>
        <p:spPr>
          <a:xfrm>
            <a:off x="12435840" y="1444752"/>
            <a:ext cx="51206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전일 데이터 기준 설계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69"/>
          <p:cNvSpPr/>
          <p:nvPr/>
        </p:nvSpPr>
        <p:spPr>
          <a:xfrm>
            <a:off x="12435840" y="2286000"/>
            <a:ext cx="5029200" cy="1371600"/>
          </a:xfrm>
          <a:prstGeom prst="rect">
            <a:avLst/>
          </a:prstGeom>
          <a:solidFill>
            <a:srgbClr val="EEF2FF"/>
          </a:solidFill>
          <a:ln w="12700" cap="flat" cmpd="sng">
            <a:solidFill>
              <a:srgbClr val="6B7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69"/>
          <p:cNvSpPr/>
          <p:nvPr/>
        </p:nvSpPr>
        <p:spPr>
          <a:xfrm>
            <a:off x="12618720" y="2359152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5FD5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4F5FD5"/>
                </a:solidFill>
                <a:latin typeface="Calibri"/>
                <a:ea typeface="Calibri"/>
                <a:cs typeface="Calibri"/>
                <a:sym typeface="Calibri"/>
              </a:rPr>
              <a:t>노이즈 제거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69"/>
          <p:cNvSpPr/>
          <p:nvPr/>
        </p:nvSpPr>
        <p:spPr>
          <a:xfrm>
            <a:off x="12618720" y="2834640"/>
            <a:ext cx="466344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068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실시간 가격 변동성에 휘둘리지 않도록 전일 종가 데이터 기준 적용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69"/>
          <p:cNvSpPr/>
          <p:nvPr/>
        </p:nvSpPr>
        <p:spPr>
          <a:xfrm>
            <a:off x="12435840" y="3931920"/>
            <a:ext cx="5029200" cy="1371600"/>
          </a:xfrm>
          <a:prstGeom prst="rect">
            <a:avLst/>
          </a:prstGeom>
          <a:solidFill>
            <a:srgbClr val="EEF2FF"/>
          </a:solidFill>
          <a:ln w="12700" cap="flat" cmpd="sng">
            <a:solidFill>
              <a:srgbClr val="6B7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69"/>
          <p:cNvSpPr/>
          <p:nvPr/>
        </p:nvSpPr>
        <p:spPr>
          <a:xfrm>
            <a:off x="12618720" y="4005072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5FD5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4F5FD5"/>
                </a:solidFill>
                <a:latin typeface="Calibri"/>
                <a:ea typeface="Calibri"/>
                <a:cs typeface="Calibri"/>
                <a:sym typeface="Calibri"/>
              </a:rPr>
              <a:t>신뢰도 향상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69"/>
          <p:cNvSpPr/>
          <p:nvPr/>
        </p:nvSpPr>
        <p:spPr>
          <a:xfrm>
            <a:off x="12618720" y="4480560"/>
            <a:ext cx="466344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068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등락률과 거래대금 모두 전일 데이터 기준으로 일관성 확보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69"/>
          <p:cNvSpPr/>
          <p:nvPr/>
        </p:nvSpPr>
        <p:spPr>
          <a:xfrm>
            <a:off x="12435840" y="5577840"/>
            <a:ext cx="5029200" cy="1371600"/>
          </a:xfrm>
          <a:prstGeom prst="rect">
            <a:avLst/>
          </a:prstGeom>
          <a:solidFill>
            <a:srgbClr val="EEF2FF"/>
          </a:solidFill>
          <a:ln w="12700" cap="flat" cmpd="sng">
            <a:solidFill>
              <a:srgbClr val="6B7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69"/>
          <p:cNvSpPr/>
          <p:nvPr/>
        </p:nvSpPr>
        <p:spPr>
          <a:xfrm>
            <a:off x="12618720" y="5650992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5FD5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4F5FD5"/>
                </a:solidFill>
                <a:latin typeface="Calibri"/>
                <a:ea typeface="Calibri"/>
                <a:cs typeface="Calibri"/>
                <a:sym typeface="Calibri"/>
              </a:rPr>
              <a:t>기본 정렬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69"/>
          <p:cNvSpPr/>
          <p:nvPr/>
        </p:nvSpPr>
        <p:spPr>
          <a:xfrm>
            <a:off x="12618720" y="6126480"/>
            <a:ext cx="466344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068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전일 거래대금 순 내림차순 정렬이 기본값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69"/>
          <p:cNvSpPr/>
          <p:nvPr/>
        </p:nvSpPr>
        <p:spPr>
          <a:xfrm>
            <a:off x="12435840" y="7223760"/>
            <a:ext cx="5029200" cy="1371600"/>
          </a:xfrm>
          <a:prstGeom prst="rect">
            <a:avLst/>
          </a:prstGeom>
          <a:solidFill>
            <a:srgbClr val="EEF2FF"/>
          </a:solidFill>
          <a:ln w="12700" cap="flat" cmpd="sng">
            <a:solidFill>
              <a:srgbClr val="6B7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69"/>
          <p:cNvSpPr/>
          <p:nvPr/>
        </p:nvSpPr>
        <p:spPr>
          <a:xfrm>
            <a:off x="12618720" y="7296912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5FD5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4F5FD5"/>
                </a:solidFill>
                <a:latin typeface="Calibri"/>
                <a:ea typeface="Calibri"/>
                <a:cs typeface="Calibri"/>
                <a:sym typeface="Calibri"/>
              </a:rPr>
              <a:t>냉철한 분석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69"/>
          <p:cNvSpPr/>
          <p:nvPr/>
        </p:nvSpPr>
        <p:spPr>
          <a:xfrm>
            <a:off x="12618720" y="7772400"/>
            <a:ext cx="466344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068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유저가 차트 추세를 보다 정확하게 분석할 수 있는 환경 제공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0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3B4EC8"/>
          </a:solidFill>
          <a:ln w="12700" cap="flat" cmpd="sng">
            <a:solidFill>
              <a:srgbClr val="3B4E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70"/>
          <p:cNvSpPr/>
          <p:nvPr/>
        </p:nvSpPr>
        <p:spPr>
          <a:xfrm>
            <a:off x="822960" y="0"/>
            <a:ext cx="16642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[AI QUANT]  종목 리스트 페이지 (/stocks)  —  정렬 기능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70"/>
          <p:cNvSpPr/>
          <p:nvPr/>
        </p:nvSpPr>
        <p:spPr>
          <a:xfrm>
            <a:off x="548640" y="1463040"/>
            <a:ext cx="8412480" cy="4114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70"/>
          <p:cNvSpPr/>
          <p:nvPr/>
        </p:nvSpPr>
        <p:spPr>
          <a:xfrm>
            <a:off x="548640" y="1463040"/>
            <a:ext cx="8412480" cy="457200"/>
          </a:xfrm>
          <a:prstGeom prst="rect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70"/>
          <p:cNvSpPr/>
          <p:nvPr/>
        </p:nvSpPr>
        <p:spPr>
          <a:xfrm>
            <a:off x="731520" y="144475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등락률 오름차순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70"/>
          <p:cNvSpPr/>
          <p:nvPr/>
        </p:nvSpPr>
        <p:spPr>
          <a:xfrm>
            <a:off x="9418320" y="1463040"/>
            <a:ext cx="8412480" cy="4114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70"/>
          <p:cNvSpPr/>
          <p:nvPr/>
        </p:nvSpPr>
        <p:spPr>
          <a:xfrm>
            <a:off x="9418320" y="1463040"/>
            <a:ext cx="8412480" cy="45720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70"/>
          <p:cNvSpPr/>
          <p:nvPr/>
        </p:nvSpPr>
        <p:spPr>
          <a:xfrm>
            <a:off x="9601200" y="144475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등락률 내림차순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0" name="Google Shape;800;p70" descr="/home/claude/extracted_imgs/slide5_img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09760" y="1975104"/>
            <a:ext cx="8229600" cy="3511296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0"/>
          <p:cNvSpPr/>
          <p:nvPr/>
        </p:nvSpPr>
        <p:spPr>
          <a:xfrm>
            <a:off x="548640" y="5943600"/>
            <a:ext cx="8412480" cy="4114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70"/>
          <p:cNvSpPr/>
          <p:nvPr/>
        </p:nvSpPr>
        <p:spPr>
          <a:xfrm>
            <a:off x="548640" y="5943600"/>
            <a:ext cx="8412480" cy="457200"/>
          </a:xfrm>
          <a:prstGeom prst="rect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70"/>
          <p:cNvSpPr/>
          <p:nvPr/>
        </p:nvSpPr>
        <p:spPr>
          <a:xfrm>
            <a:off x="731520" y="592531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종가 오름차순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4" name="Google Shape;804;p70" descr="/home/claude/extracted_imgs/slide5_img3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6455664"/>
            <a:ext cx="8229600" cy="3511296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0"/>
          <p:cNvSpPr/>
          <p:nvPr/>
        </p:nvSpPr>
        <p:spPr>
          <a:xfrm>
            <a:off x="9418320" y="5943600"/>
            <a:ext cx="8412480" cy="4114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70"/>
          <p:cNvSpPr/>
          <p:nvPr/>
        </p:nvSpPr>
        <p:spPr>
          <a:xfrm>
            <a:off x="9418320" y="5943600"/>
            <a:ext cx="8412480" cy="45720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70"/>
          <p:cNvSpPr/>
          <p:nvPr/>
        </p:nvSpPr>
        <p:spPr>
          <a:xfrm>
            <a:off x="9601200" y="592531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종가 내림차순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8" name="Google Shape;808;p70" descr="/home/claude/extracted_imgs/slide5_img4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09760" y="6455664"/>
            <a:ext cx="8229600" cy="351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525" y="1975100"/>
            <a:ext cx="8138148" cy="3511299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/>
          <p:nvPr/>
        </p:nvSpPr>
        <p:spPr>
          <a:xfrm>
            <a:off x="8321040" y="2926080"/>
            <a:ext cx="1645920" cy="731520"/>
          </a:xfrm>
          <a:prstGeom prst="rect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70"/>
          <p:cNvSpPr/>
          <p:nvPr/>
        </p:nvSpPr>
        <p:spPr>
          <a:xfrm>
            <a:off x="8321040" y="7406640"/>
            <a:ext cx="1645920" cy="73152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70"/>
          <p:cNvSpPr/>
          <p:nvPr/>
        </p:nvSpPr>
        <p:spPr>
          <a:xfrm>
            <a:off x="8321040" y="740664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전환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70"/>
          <p:cNvSpPr/>
          <p:nvPr/>
        </p:nvSpPr>
        <p:spPr>
          <a:xfrm>
            <a:off x="8321040" y="292608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정렬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3B4EC8"/>
          </a:solidFill>
          <a:ln w="12700" cap="flat" cmpd="sng">
            <a:solidFill>
              <a:srgbClr val="3B4E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1"/>
          <p:cNvSpPr/>
          <p:nvPr/>
        </p:nvSpPr>
        <p:spPr>
          <a:xfrm>
            <a:off x="822960" y="0"/>
            <a:ext cx="16642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[AI QUANT]  종목 리스트 페이지 (/stocks)  —  페이지 이동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71"/>
          <p:cNvSpPr/>
          <p:nvPr/>
        </p:nvSpPr>
        <p:spPr>
          <a:xfrm>
            <a:off x="548640" y="1463040"/>
            <a:ext cx="11887200" cy="8229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2" name="Google Shape;822;p71" descr="/home/claude/extracted_imgs/slide6_img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554480"/>
            <a:ext cx="11704320" cy="804672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/>
          <p:nvPr/>
        </p:nvSpPr>
        <p:spPr>
          <a:xfrm>
            <a:off x="12801600" y="1463040"/>
            <a:ext cx="4937700" cy="8229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71"/>
          <p:cNvSpPr/>
          <p:nvPr/>
        </p:nvSpPr>
        <p:spPr>
          <a:xfrm>
            <a:off x="12801600" y="1463040"/>
            <a:ext cx="4937760" cy="512064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71"/>
          <p:cNvSpPr/>
          <p:nvPr/>
        </p:nvSpPr>
        <p:spPr>
          <a:xfrm>
            <a:off x="12984480" y="144475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종목 세부 페이지 이동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71"/>
          <p:cNvSpPr/>
          <p:nvPr/>
        </p:nvSpPr>
        <p:spPr>
          <a:xfrm>
            <a:off x="12984480" y="2286000"/>
            <a:ext cx="43891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행 클릭 시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/stocks/{ticker}로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이동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71"/>
          <p:cNvSpPr/>
          <p:nvPr/>
        </p:nvSpPr>
        <p:spPr>
          <a:xfrm>
            <a:off x="12956992" y="4416485"/>
            <a:ext cx="457200" cy="457200"/>
          </a:xfrm>
          <a:prstGeom prst="ellipse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71"/>
          <p:cNvSpPr/>
          <p:nvPr/>
        </p:nvSpPr>
        <p:spPr>
          <a:xfrm>
            <a:off x="13560497" y="4325045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100"/>
              <a:buFont typeface="Calibri"/>
              <a:buNone/>
            </a:pPr>
            <a:r>
              <a:rPr lang="en-US" sz="21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종목명 클릭으로 즉시 이동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71"/>
          <p:cNvSpPr/>
          <p:nvPr/>
        </p:nvSpPr>
        <p:spPr>
          <a:xfrm>
            <a:off x="12956992" y="5605205"/>
            <a:ext cx="457200" cy="457200"/>
          </a:xfrm>
          <a:prstGeom prst="ellipse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71"/>
          <p:cNvSpPr/>
          <p:nvPr/>
        </p:nvSpPr>
        <p:spPr>
          <a:xfrm>
            <a:off x="13560497" y="5513765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100"/>
              <a:buFont typeface="Calibri"/>
              <a:buNone/>
            </a:pPr>
            <a:r>
              <a:rPr lang="en-US" sz="21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티커 기반 URL 라우팅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71"/>
          <p:cNvSpPr/>
          <p:nvPr/>
        </p:nvSpPr>
        <p:spPr>
          <a:xfrm>
            <a:off x="12801600" y="8503920"/>
            <a:ext cx="4937760" cy="914400"/>
          </a:xfrm>
          <a:prstGeom prst="rect">
            <a:avLst/>
          </a:prstGeom>
          <a:solidFill>
            <a:srgbClr val="F0FFF4"/>
          </a:solidFill>
          <a:ln w="12700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71"/>
          <p:cNvSpPr/>
          <p:nvPr/>
        </p:nvSpPr>
        <p:spPr>
          <a:xfrm>
            <a:off x="12984480" y="850392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000"/>
              <a:buFont typeface="Calibri"/>
              <a:buNone/>
            </a:pPr>
            <a:r>
              <a:rPr lang="en-US" sz="2000" i="1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href='/stocks/{{ ticker }}'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71"/>
          <p:cNvSpPr/>
          <p:nvPr/>
        </p:nvSpPr>
        <p:spPr>
          <a:xfrm>
            <a:off x="2392750" y="6704300"/>
            <a:ext cx="8282700" cy="552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2"/>
          <p:cNvSpPr/>
          <p:nvPr/>
        </p:nvSpPr>
        <p:spPr>
          <a:xfrm>
            <a:off x="0" y="0"/>
            <a:ext cx="18288000" cy="1280100"/>
          </a:xfrm>
          <a:prstGeom prst="rect">
            <a:avLst/>
          </a:prstGeom>
          <a:solidFill>
            <a:srgbClr val="3B4EC8"/>
          </a:solidFill>
          <a:ln w="12700" cap="flat" cmpd="sng">
            <a:solidFill>
              <a:srgbClr val="3B4E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72"/>
          <p:cNvSpPr/>
          <p:nvPr/>
        </p:nvSpPr>
        <p:spPr>
          <a:xfrm>
            <a:off x="914400" y="0"/>
            <a:ext cx="164592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종목 상세 페이지 — </a:t>
            </a:r>
            <a:r>
              <a:rPr lang="en-US" sz="4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전체 뷰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5059" y="1361688"/>
            <a:ext cx="14908867" cy="7563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" name="Google Shape;845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0000">
            <a:off x="2184120" y="6616440"/>
            <a:ext cx="888840" cy="16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73"/>
          <p:cNvPicPr preferRelativeResize="0"/>
          <p:nvPr/>
        </p:nvPicPr>
        <p:blipFill rotWithShape="1">
          <a:blip r:embed="rId4">
            <a:alphaModFix/>
          </a:blip>
          <a:srcRect t="7356" r="25468"/>
          <a:stretch/>
        </p:blipFill>
        <p:spPr>
          <a:xfrm>
            <a:off x="3588163" y="1639912"/>
            <a:ext cx="11111675" cy="7007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7" name="Google Shape;847;p73"/>
          <p:cNvCxnSpPr/>
          <p:nvPr/>
        </p:nvCxnSpPr>
        <p:spPr>
          <a:xfrm>
            <a:off x="2182750" y="1776175"/>
            <a:ext cx="1418700" cy="427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8" name="Google Shape;848;p73"/>
          <p:cNvSpPr/>
          <p:nvPr/>
        </p:nvSpPr>
        <p:spPr>
          <a:xfrm>
            <a:off x="3662750" y="2079850"/>
            <a:ext cx="1822200" cy="5109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73"/>
          <p:cNvSpPr txBox="1"/>
          <p:nvPr/>
        </p:nvSpPr>
        <p:spPr>
          <a:xfrm>
            <a:off x="741525" y="1279200"/>
            <a:ext cx="23328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06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_dropdown.html</a:t>
            </a:r>
            <a:endParaRPr sz="1800"/>
          </a:p>
        </p:txBody>
      </p:sp>
      <p:sp>
        <p:nvSpPr>
          <p:cNvPr id="850" name="Google Shape;850;p73"/>
          <p:cNvSpPr/>
          <p:nvPr/>
        </p:nvSpPr>
        <p:spPr>
          <a:xfrm>
            <a:off x="3746125" y="2660468"/>
            <a:ext cx="4223700" cy="427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51" name="Google Shape;851;p73"/>
          <p:cNvCxnSpPr/>
          <p:nvPr/>
        </p:nvCxnSpPr>
        <p:spPr>
          <a:xfrm rot="10800000" flipH="1">
            <a:off x="2144275" y="2847000"/>
            <a:ext cx="1488300" cy="3510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2" name="Google Shape;852;p73"/>
          <p:cNvSpPr txBox="1"/>
          <p:nvPr/>
        </p:nvSpPr>
        <p:spPr>
          <a:xfrm>
            <a:off x="576450" y="3198000"/>
            <a:ext cx="25617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06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_strategy_select.html</a:t>
            </a:r>
            <a:endParaRPr sz="1800"/>
          </a:p>
        </p:txBody>
      </p:sp>
      <p:cxnSp>
        <p:nvCxnSpPr>
          <p:cNvPr id="853" name="Google Shape;853;p73"/>
          <p:cNvCxnSpPr/>
          <p:nvPr/>
        </p:nvCxnSpPr>
        <p:spPr>
          <a:xfrm rot="10800000" flipH="1">
            <a:off x="2147950" y="6438425"/>
            <a:ext cx="1488300" cy="3510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4" name="Google Shape;854;p73"/>
          <p:cNvSpPr/>
          <p:nvPr/>
        </p:nvSpPr>
        <p:spPr>
          <a:xfrm>
            <a:off x="3815700" y="3432700"/>
            <a:ext cx="10683600" cy="46797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73"/>
          <p:cNvSpPr txBox="1"/>
          <p:nvPr/>
        </p:nvSpPr>
        <p:spPr>
          <a:xfrm>
            <a:off x="452775" y="6856700"/>
            <a:ext cx="29892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06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chart_toggle_macro.html</a:t>
            </a:r>
            <a:endParaRPr sz="1800"/>
          </a:p>
        </p:txBody>
      </p:sp>
      <p:sp>
        <p:nvSpPr>
          <p:cNvPr id="856" name="Google Shape;856;p73"/>
          <p:cNvSpPr/>
          <p:nvPr/>
        </p:nvSpPr>
        <p:spPr>
          <a:xfrm>
            <a:off x="0" y="0"/>
            <a:ext cx="18288000" cy="1280100"/>
          </a:xfrm>
          <a:prstGeom prst="rect">
            <a:avLst/>
          </a:prstGeom>
          <a:solidFill>
            <a:srgbClr val="3B4EC8"/>
          </a:solidFill>
          <a:ln w="12700" cap="flat" cmpd="sng">
            <a:solidFill>
              <a:srgbClr val="3B4E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73"/>
          <p:cNvSpPr/>
          <p:nvPr/>
        </p:nvSpPr>
        <p:spPr>
          <a:xfrm>
            <a:off x="914400" y="0"/>
            <a:ext cx="164592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종목 상세 페이지 — </a:t>
            </a:r>
            <a:r>
              <a:rPr lang="en-US" sz="4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차트 영역(왼쪽)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2" name="Google Shape;862;p74"/>
          <p:cNvCxnSpPr>
            <a:endCxn id="863" idx="3"/>
          </p:cNvCxnSpPr>
          <p:nvPr/>
        </p:nvCxnSpPr>
        <p:spPr>
          <a:xfrm flipH="1">
            <a:off x="7908150" y="1995325"/>
            <a:ext cx="1055400" cy="7212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4" name="Google Shape;864;p74"/>
          <p:cNvSpPr txBox="1"/>
          <p:nvPr/>
        </p:nvSpPr>
        <p:spPr>
          <a:xfrm>
            <a:off x="8347700" y="1423825"/>
            <a:ext cx="26727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_ai_analysis_card.html</a:t>
            </a:r>
            <a:endParaRPr sz="2000">
              <a:solidFill>
                <a:srgbClr val="4A50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5" name="Google Shape;865;p74"/>
          <p:cNvCxnSpPr>
            <a:stCxn id="866" idx="0"/>
          </p:cNvCxnSpPr>
          <p:nvPr/>
        </p:nvCxnSpPr>
        <p:spPr>
          <a:xfrm rot="10800000" flipH="1">
            <a:off x="1636625" y="6672900"/>
            <a:ext cx="2013600" cy="12600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6" name="Google Shape;866;p74"/>
          <p:cNvSpPr txBox="1"/>
          <p:nvPr/>
        </p:nvSpPr>
        <p:spPr>
          <a:xfrm>
            <a:off x="563075" y="7932900"/>
            <a:ext cx="21471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06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_stock_chat.html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4A50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74"/>
          <p:cNvSpPr/>
          <p:nvPr/>
        </p:nvSpPr>
        <p:spPr>
          <a:xfrm>
            <a:off x="0" y="0"/>
            <a:ext cx="18288000" cy="1280100"/>
          </a:xfrm>
          <a:prstGeom prst="rect">
            <a:avLst/>
          </a:prstGeom>
          <a:solidFill>
            <a:srgbClr val="3B4EC8"/>
          </a:solidFill>
          <a:ln w="12700" cap="flat" cmpd="sng">
            <a:solidFill>
              <a:srgbClr val="3B4E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74"/>
          <p:cNvSpPr/>
          <p:nvPr/>
        </p:nvSpPr>
        <p:spPr>
          <a:xfrm>
            <a:off x="914400" y="0"/>
            <a:ext cx="164592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종목 상세 페이지 — </a:t>
            </a:r>
            <a:r>
              <a:rPr lang="en-US" sz="4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사이드바(오른쪽)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9" name="Google Shape;86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338" y="1478450"/>
            <a:ext cx="4126825" cy="7645601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4"/>
          <p:cNvSpPr/>
          <p:nvPr/>
        </p:nvSpPr>
        <p:spPr>
          <a:xfrm>
            <a:off x="3781350" y="1534525"/>
            <a:ext cx="4126800" cy="2364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74"/>
          <p:cNvSpPr/>
          <p:nvPr/>
        </p:nvSpPr>
        <p:spPr>
          <a:xfrm>
            <a:off x="3781250" y="4359225"/>
            <a:ext cx="4126800" cy="46797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74"/>
          <p:cNvSpPr/>
          <p:nvPr/>
        </p:nvSpPr>
        <p:spPr>
          <a:xfrm>
            <a:off x="3781250" y="3898525"/>
            <a:ext cx="4126800" cy="460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72" name="Google Shape;872;p74"/>
          <p:cNvCxnSpPr/>
          <p:nvPr/>
        </p:nvCxnSpPr>
        <p:spPr>
          <a:xfrm flipH="1">
            <a:off x="14567950" y="3059975"/>
            <a:ext cx="1159800" cy="8976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873" name="Google Shape;87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82704" y="2645150"/>
            <a:ext cx="4577300" cy="4500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4" name="Google Shape;874;p74"/>
          <p:cNvCxnSpPr/>
          <p:nvPr/>
        </p:nvCxnSpPr>
        <p:spPr>
          <a:xfrm rot="10800000" flipH="1">
            <a:off x="7942100" y="2701125"/>
            <a:ext cx="1905000" cy="1200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5" name="Google Shape;875;p74"/>
          <p:cNvCxnSpPr/>
          <p:nvPr/>
        </p:nvCxnSpPr>
        <p:spPr>
          <a:xfrm>
            <a:off x="7928291" y="4398983"/>
            <a:ext cx="1960200" cy="2733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6" name="Google Shape;876;p74"/>
          <p:cNvSpPr txBox="1"/>
          <p:nvPr/>
        </p:nvSpPr>
        <p:spPr>
          <a:xfrm>
            <a:off x="14794900" y="2570113"/>
            <a:ext cx="23328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A506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4A5068"/>
                </a:solidFill>
                <a:latin typeface="Calibri"/>
                <a:ea typeface="Calibri"/>
                <a:cs typeface="Calibri"/>
                <a:sym typeface="Calibri"/>
              </a:rPr>
              <a:t>_invest_form.html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4A50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5"/>
          <p:cNvSpPr/>
          <p:nvPr/>
        </p:nvSpPr>
        <p:spPr>
          <a:xfrm>
            <a:off x="0" y="0"/>
            <a:ext cx="18288000" cy="1280160"/>
          </a:xfrm>
          <a:prstGeom prst="rect">
            <a:avLst/>
          </a:prstGeom>
          <a:solidFill>
            <a:srgbClr val="3B4EC8"/>
          </a:solidFill>
          <a:ln w="12700" cap="flat" cmpd="sng">
            <a:solidFill>
              <a:srgbClr val="3B4E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75"/>
          <p:cNvSpPr/>
          <p:nvPr/>
        </p:nvSpPr>
        <p:spPr>
          <a:xfrm>
            <a:off x="914400" y="0"/>
            <a:ext cx="164592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종목 상세 페이지 — 레이아웃 구조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75"/>
          <p:cNvSpPr/>
          <p:nvPr/>
        </p:nvSpPr>
        <p:spPr>
          <a:xfrm>
            <a:off x="548640" y="1463040"/>
            <a:ext cx="10607100" cy="4755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5"/>
          <p:cNvSpPr/>
          <p:nvPr/>
        </p:nvSpPr>
        <p:spPr>
          <a:xfrm>
            <a:off x="548640" y="6492240"/>
            <a:ext cx="10607100" cy="3108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75"/>
          <p:cNvSpPr/>
          <p:nvPr/>
        </p:nvSpPr>
        <p:spPr>
          <a:xfrm>
            <a:off x="11521440" y="6492240"/>
            <a:ext cx="6217800" cy="3108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75"/>
          <p:cNvSpPr/>
          <p:nvPr/>
        </p:nvSpPr>
        <p:spPr>
          <a:xfrm>
            <a:off x="11521440" y="6492240"/>
            <a:ext cx="6217800" cy="51210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75"/>
          <p:cNvSpPr/>
          <p:nvPr/>
        </p:nvSpPr>
        <p:spPr>
          <a:xfrm>
            <a:off x="11704320" y="6473952"/>
            <a:ext cx="58521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_strategy_select.html -&gt; stock_detail.js실행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75"/>
          <p:cNvSpPr/>
          <p:nvPr/>
        </p:nvSpPr>
        <p:spPr>
          <a:xfrm>
            <a:off x="11704320" y="7187184"/>
            <a:ext cx="5760600" cy="21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전략 / 기간 / 분석하기 + 백테스팅 결과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75"/>
          <p:cNvSpPr/>
          <p:nvPr/>
        </p:nvSpPr>
        <p:spPr>
          <a:xfrm>
            <a:off x="11521440" y="1463040"/>
            <a:ext cx="6217800" cy="3840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75"/>
          <p:cNvSpPr/>
          <p:nvPr/>
        </p:nvSpPr>
        <p:spPr>
          <a:xfrm>
            <a:off x="11521440" y="1463040"/>
            <a:ext cx="6217800" cy="512100"/>
          </a:xfrm>
          <a:prstGeom prst="rect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75"/>
          <p:cNvSpPr/>
          <p:nvPr/>
        </p:nvSpPr>
        <p:spPr>
          <a:xfrm>
            <a:off x="11704320" y="1444752"/>
            <a:ext cx="58521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_dropdown.html -&gt; dropdown.js실행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75"/>
          <p:cNvSpPr/>
          <p:nvPr/>
        </p:nvSpPr>
        <p:spPr>
          <a:xfrm>
            <a:off x="11704325" y="2158047"/>
            <a:ext cx="5760600" cy="30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- 현재 보고 있는 종목명과 티커를 버튼 형태로 표시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- 드롭다운 내부에서 종목명 또는 코드로 실시간 검색 가능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- 검색 결과에 따라 전체 종목 리스트를 필터링하고, 선택 시 해당 종목 상세 페이지로 이동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None/>
            </a:pP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4" name="Google Shape;89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611825"/>
            <a:ext cx="10424174" cy="43278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</p:pic>
      <p:pic>
        <p:nvPicPr>
          <p:cNvPr id="895" name="Google Shape;89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4575" y="6492250"/>
            <a:ext cx="6835238" cy="3108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76"/>
          <p:cNvSpPr/>
          <p:nvPr/>
        </p:nvSpPr>
        <p:spPr>
          <a:xfrm>
            <a:off x="0" y="0"/>
            <a:ext cx="18288000" cy="1280100"/>
          </a:xfrm>
          <a:prstGeom prst="rect">
            <a:avLst/>
          </a:prstGeom>
          <a:solidFill>
            <a:srgbClr val="3B4EC8"/>
          </a:solidFill>
          <a:ln w="12700" cap="flat" cmpd="sng">
            <a:solidFill>
              <a:srgbClr val="3B4E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76"/>
          <p:cNvSpPr/>
          <p:nvPr/>
        </p:nvSpPr>
        <p:spPr>
          <a:xfrm>
            <a:off x="914400" y="0"/>
            <a:ext cx="164592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종목 상세 페이지 — 레이아웃 구조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76"/>
          <p:cNvSpPr/>
          <p:nvPr/>
        </p:nvSpPr>
        <p:spPr>
          <a:xfrm>
            <a:off x="548640" y="1463040"/>
            <a:ext cx="10607100" cy="4755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76"/>
          <p:cNvSpPr/>
          <p:nvPr/>
        </p:nvSpPr>
        <p:spPr>
          <a:xfrm>
            <a:off x="548640" y="6492240"/>
            <a:ext cx="10607100" cy="3108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76"/>
          <p:cNvSpPr/>
          <p:nvPr/>
        </p:nvSpPr>
        <p:spPr>
          <a:xfrm>
            <a:off x="11521440" y="6492240"/>
            <a:ext cx="6217800" cy="3108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76"/>
          <p:cNvSpPr/>
          <p:nvPr/>
        </p:nvSpPr>
        <p:spPr>
          <a:xfrm>
            <a:off x="11521450" y="6492251"/>
            <a:ext cx="6217800" cy="86430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76"/>
          <p:cNvSpPr/>
          <p:nvPr/>
        </p:nvSpPr>
        <p:spPr>
          <a:xfrm>
            <a:off x="11704325" y="6473949"/>
            <a:ext cx="5852100" cy="8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_ai_analysis_card.html -&gt; stock_detail.py -&gt; ai_analysis.py -&gt; get_db_or_api_stock_news()실행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76"/>
          <p:cNvSpPr/>
          <p:nvPr/>
        </p:nvSpPr>
        <p:spPr>
          <a:xfrm>
            <a:off x="11704320" y="7187184"/>
            <a:ext cx="5760600" cy="21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핵심 요약 텍스트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AI 투자 점수 박스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관련 뉴스 목록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76"/>
          <p:cNvSpPr/>
          <p:nvPr/>
        </p:nvSpPr>
        <p:spPr>
          <a:xfrm>
            <a:off x="11521440" y="1463040"/>
            <a:ext cx="6217800" cy="3840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76"/>
          <p:cNvSpPr/>
          <p:nvPr/>
        </p:nvSpPr>
        <p:spPr>
          <a:xfrm>
            <a:off x="11521440" y="1463040"/>
            <a:ext cx="6217800" cy="512100"/>
          </a:xfrm>
          <a:prstGeom prst="rect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76"/>
          <p:cNvSpPr/>
          <p:nvPr/>
        </p:nvSpPr>
        <p:spPr>
          <a:xfrm>
            <a:off x="11704320" y="1444752"/>
            <a:ext cx="58521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chart_toggle_macro.html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76"/>
          <p:cNvSpPr/>
          <p:nvPr/>
        </p:nvSpPr>
        <p:spPr>
          <a:xfrm>
            <a:off x="11704325" y="2158047"/>
            <a:ext cx="5760600" cy="30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Candle / Line 차트 전환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백테스팅 결과 카드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전략 한 줄 설명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전역 데이터 저장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3" name="Google Shape;91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775" y="1686075"/>
            <a:ext cx="9912865" cy="4308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1650" y="6446625"/>
            <a:ext cx="7161128" cy="320015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77"/>
          <p:cNvSpPr/>
          <p:nvPr/>
        </p:nvSpPr>
        <p:spPr>
          <a:xfrm>
            <a:off x="0" y="0"/>
            <a:ext cx="18288000" cy="1280100"/>
          </a:xfrm>
          <a:prstGeom prst="rect">
            <a:avLst/>
          </a:prstGeom>
          <a:solidFill>
            <a:srgbClr val="3B4EC8"/>
          </a:solidFill>
          <a:ln w="12700" cap="flat" cmpd="sng">
            <a:solidFill>
              <a:srgbClr val="3B4E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77"/>
          <p:cNvSpPr/>
          <p:nvPr/>
        </p:nvSpPr>
        <p:spPr>
          <a:xfrm>
            <a:off x="914400" y="0"/>
            <a:ext cx="164592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종목 상세 페이지 — 레이아웃 구조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77"/>
          <p:cNvSpPr/>
          <p:nvPr/>
        </p:nvSpPr>
        <p:spPr>
          <a:xfrm>
            <a:off x="548640" y="1463040"/>
            <a:ext cx="10607100" cy="4755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77"/>
          <p:cNvSpPr/>
          <p:nvPr/>
        </p:nvSpPr>
        <p:spPr>
          <a:xfrm>
            <a:off x="548640" y="6492240"/>
            <a:ext cx="10607100" cy="3108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77"/>
          <p:cNvSpPr/>
          <p:nvPr/>
        </p:nvSpPr>
        <p:spPr>
          <a:xfrm>
            <a:off x="11521440" y="6492240"/>
            <a:ext cx="6217800" cy="3108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77"/>
          <p:cNvSpPr/>
          <p:nvPr/>
        </p:nvSpPr>
        <p:spPr>
          <a:xfrm>
            <a:off x="11521440" y="6492240"/>
            <a:ext cx="6217800" cy="51210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77"/>
          <p:cNvSpPr/>
          <p:nvPr/>
        </p:nvSpPr>
        <p:spPr>
          <a:xfrm>
            <a:off x="11704320" y="6473952"/>
            <a:ext cx="58521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_invest_form.html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77"/>
          <p:cNvSpPr/>
          <p:nvPr/>
        </p:nvSpPr>
        <p:spPr>
          <a:xfrm>
            <a:off x="11704320" y="7187184"/>
            <a:ext cx="5760600" cy="21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알고리즘 전략 선택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주문 입력 폼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실시간 잔액 계산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잔액 부족 경고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77"/>
          <p:cNvSpPr/>
          <p:nvPr/>
        </p:nvSpPr>
        <p:spPr>
          <a:xfrm>
            <a:off x="11521440" y="1463040"/>
            <a:ext cx="6217800" cy="3840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77"/>
          <p:cNvSpPr/>
          <p:nvPr/>
        </p:nvSpPr>
        <p:spPr>
          <a:xfrm>
            <a:off x="11521440" y="1463040"/>
            <a:ext cx="6217800" cy="512100"/>
          </a:xfrm>
          <a:prstGeom prst="rect">
            <a:avLst/>
          </a:prstGeom>
          <a:solidFill>
            <a:srgbClr val="4F5FD5"/>
          </a:solidFill>
          <a:ln w="12700" cap="flat" cmpd="sng">
            <a:solidFill>
              <a:srgbClr val="4F5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77"/>
          <p:cNvSpPr/>
          <p:nvPr/>
        </p:nvSpPr>
        <p:spPr>
          <a:xfrm>
            <a:off x="11704320" y="1444752"/>
            <a:ext cx="58521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_stock_chat.html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77"/>
          <p:cNvSpPr/>
          <p:nvPr/>
        </p:nvSpPr>
        <p:spPr>
          <a:xfrm>
            <a:off x="11704325" y="2158047"/>
            <a:ext cx="5760600" cy="30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채팅 메시지 목록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채팅 입력창(현재 종목 티커를 변수로 주입하여 종목별로 채팅창이 다름)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전송 버튼(ajax를 활용하여 렌더링 발생X)</a:t>
            </a:r>
            <a:endParaRPr sz="2200">
              <a:solidFill>
                <a:srgbClr val="1A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2" name="Google Shape;93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62" y="1463050"/>
            <a:ext cx="10028082" cy="4755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</p:pic>
      <p:pic>
        <p:nvPicPr>
          <p:cNvPr id="933" name="Google Shape;933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4075" y="6492250"/>
            <a:ext cx="8756243" cy="3108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4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78"/>
          <p:cNvSpPr txBox="1"/>
          <p:nvPr/>
        </p:nvSpPr>
        <p:spPr>
          <a:xfrm>
            <a:off x="6019920" y="92700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포트폴리오 페이지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78"/>
          <p:cNvSpPr txBox="1"/>
          <p:nvPr/>
        </p:nvSpPr>
        <p:spPr>
          <a:xfrm>
            <a:off x="6032520" y="1498680"/>
            <a:ext cx="62229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0" name="Google Shape;94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100" y="2062255"/>
            <a:ext cx="8353425" cy="688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9"/>
          <p:cNvSpPr/>
          <p:nvPr/>
        </p:nvSpPr>
        <p:spPr>
          <a:xfrm>
            <a:off x="0" y="0"/>
            <a:ext cx="18288003" cy="1371600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79"/>
          <p:cNvSpPr txBox="1"/>
          <p:nvPr/>
        </p:nvSpPr>
        <p:spPr>
          <a:xfrm>
            <a:off x="480180" y="164592"/>
            <a:ext cx="13719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뉴스 </a:t>
            </a:r>
            <a:r>
              <a:rPr lang="en-US" sz="3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페이지 </a:t>
            </a:r>
            <a:r>
              <a:rPr lang="en-US" sz="3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로직</a:t>
            </a:r>
            <a:endParaRPr sz="2100"/>
          </a:p>
        </p:txBody>
      </p:sp>
      <p:sp>
        <p:nvSpPr>
          <p:cNvPr id="947" name="Google Shape;947;p79"/>
          <p:cNvSpPr txBox="1"/>
          <p:nvPr/>
        </p:nvSpPr>
        <p:spPr>
          <a:xfrm>
            <a:off x="521338" y="918972"/>
            <a:ext cx="1371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B8D4FF"/>
                </a:solidFill>
                <a:latin typeface="Calibri"/>
                <a:ea typeface="Calibri"/>
                <a:cs typeface="Calibri"/>
                <a:sym typeface="Calibri"/>
              </a:rPr>
              <a:t>news_service.py, news.py</a:t>
            </a:r>
            <a:endParaRPr sz="2100"/>
          </a:p>
        </p:txBody>
      </p:sp>
      <p:sp>
        <p:nvSpPr>
          <p:cNvPr id="948" name="Google Shape;948;p79"/>
          <p:cNvSpPr/>
          <p:nvPr/>
        </p:nvSpPr>
        <p:spPr>
          <a:xfrm>
            <a:off x="411583" y="1714500"/>
            <a:ext cx="4253024" cy="7886700"/>
          </a:xfrm>
          <a:prstGeom prst="rect">
            <a:avLst/>
          </a:prstGeom>
          <a:solidFill>
            <a:srgbClr val="FFFFFF"/>
          </a:solidFill>
          <a:ln w="10150" cap="flat" cmpd="sng">
            <a:solidFill>
              <a:srgbClr val="CCD9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79"/>
          <p:cNvSpPr txBox="1"/>
          <p:nvPr/>
        </p:nvSpPr>
        <p:spPr>
          <a:xfrm>
            <a:off x="754569" y="1892808"/>
            <a:ext cx="3567052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26BC6"/>
                </a:solidFill>
                <a:latin typeface="Calibri"/>
                <a:ea typeface="Calibri"/>
                <a:cs typeface="Calibri"/>
                <a:sym typeface="Calibri"/>
              </a:rPr>
              <a:t>처리 흐름</a:t>
            </a:r>
            <a:endParaRPr sz="2100"/>
          </a:p>
        </p:txBody>
      </p:sp>
      <p:sp>
        <p:nvSpPr>
          <p:cNvPr id="950" name="Google Shape;950;p79"/>
          <p:cNvSpPr/>
          <p:nvPr/>
        </p:nvSpPr>
        <p:spPr>
          <a:xfrm>
            <a:off x="754569" y="2743200"/>
            <a:ext cx="1577735" cy="521208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79"/>
          <p:cNvSpPr txBox="1"/>
          <p:nvPr/>
        </p:nvSpPr>
        <p:spPr>
          <a:xfrm>
            <a:off x="754569" y="2798064"/>
            <a:ext cx="157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뉴스 수집</a:t>
            </a:r>
            <a:endParaRPr sz="2100"/>
          </a:p>
        </p:txBody>
      </p:sp>
      <p:sp>
        <p:nvSpPr>
          <p:cNvPr id="952" name="Google Shape;952;p79"/>
          <p:cNvSpPr txBox="1"/>
          <p:nvPr/>
        </p:nvSpPr>
        <p:spPr>
          <a:xfrm>
            <a:off x="2400921" y="2643900"/>
            <a:ext cx="1989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주요 </a:t>
            </a: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방산 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기업명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+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방산</a:t>
            </a:r>
            <a:endParaRPr sz="2100"/>
          </a:p>
        </p:txBody>
      </p:sp>
      <p:sp>
        <p:nvSpPr>
          <p:cNvPr id="953" name="Google Shape;953;p79"/>
          <p:cNvSpPr txBox="1"/>
          <p:nvPr/>
        </p:nvSpPr>
        <p:spPr>
          <a:xfrm>
            <a:off x="1371943" y="3332988"/>
            <a:ext cx="4801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226BC6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2100"/>
          </a:p>
        </p:txBody>
      </p:sp>
      <p:sp>
        <p:nvSpPr>
          <p:cNvPr id="954" name="Google Shape;954;p79"/>
          <p:cNvSpPr/>
          <p:nvPr/>
        </p:nvSpPr>
        <p:spPr>
          <a:xfrm>
            <a:off x="754569" y="4183380"/>
            <a:ext cx="1577735" cy="521208"/>
          </a:xfrm>
          <a:prstGeom prst="rect">
            <a:avLst/>
          </a:prstGeom>
          <a:solidFill>
            <a:srgbClr val="7F8C8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79"/>
          <p:cNvSpPr txBox="1"/>
          <p:nvPr/>
        </p:nvSpPr>
        <p:spPr>
          <a:xfrm>
            <a:off x="457264" y="4238249"/>
            <a:ext cx="198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이미지 추출</a:t>
            </a:r>
            <a:endParaRPr sz="2100"/>
          </a:p>
        </p:txBody>
      </p:sp>
      <p:sp>
        <p:nvSpPr>
          <p:cNvPr id="956" name="Google Shape;956;p79"/>
          <p:cNvSpPr txBox="1"/>
          <p:nvPr/>
        </p:nvSpPr>
        <p:spPr>
          <a:xfrm>
            <a:off x="2442071" y="4253705"/>
            <a:ext cx="198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OG 메타태그 크롤링</a:t>
            </a:r>
            <a:endParaRPr sz="2000"/>
          </a:p>
        </p:txBody>
      </p:sp>
      <p:sp>
        <p:nvSpPr>
          <p:cNvPr id="957" name="Google Shape;957;p79"/>
          <p:cNvSpPr txBox="1"/>
          <p:nvPr/>
        </p:nvSpPr>
        <p:spPr>
          <a:xfrm>
            <a:off x="1371943" y="4773168"/>
            <a:ext cx="4801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226BC6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2100"/>
          </a:p>
        </p:txBody>
      </p:sp>
      <p:sp>
        <p:nvSpPr>
          <p:cNvPr id="958" name="Google Shape;958;p79"/>
          <p:cNvSpPr/>
          <p:nvPr/>
        </p:nvSpPr>
        <p:spPr>
          <a:xfrm>
            <a:off x="754569" y="5623559"/>
            <a:ext cx="1577735" cy="521208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79"/>
          <p:cNvSpPr txBox="1"/>
          <p:nvPr/>
        </p:nvSpPr>
        <p:spPr>
          <a:xfrm>
            <a:off x="754569" y="5678423"/>
            <a:ext cx="157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 저장</a:t>
            </a:r>
            <a:endParaRPr sz="2100"/>
          </a:p>
        </p:txBody>
      </p:sp>
      <p:sp>
        <p:nvSpPr>
          <p:cNvPr id="960" name="Google Shape;960;p79"/>
          <p:cNvSpPr txBox="1"/>
          <p:nvPr/>
        </p:nvSpPr>
        <p:spPr>
          <a:xfrm>
            <a:off x="2442059" y="5623559"/>
            <a:ext cx="1989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중복 방지 저장</a:t>
            </a:r>
            <a:endParaRPr sz="2100"/>
          </a:p>
        </p:txBody>
      </p:sp>
      <p:sp>
        <p:nvSpPr>
          <p:cNvPr id="961" name="Google Shape;961;p79"/>
          <p:cNvSpPr txBox="1"/>
          <p:nvPr/>
        </p:nvSpPr>
        <p:spPr>
          <a:xfrm>
            <a:off x="1371943" y="6213347"/>
            <a:ext cx="4801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226BC6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2100"/>
          </a:p>
        </p:txBody>
      </p:sp>
      <p:sp>
        <p:nvSpPr>
          <p:cNvPr id="962" name="Google Shape;962;p79"/>
          <p:cNvSpPr/>
          <p:nvPr/>
        </p:nvSpPr>
        <p:spPr>
          <a:xfrm>
            <a:off x="754569" y="7063738"/>
            <a:ext cx="1577735" cy="521208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79"/>
          <p:cNvSpPr txBox="1"/>
          <p:nvPr/>
        </p:nvSpPr>
        <p:spPr>
          <a:xfrm>
            <a:off x="754569" y="7118604"/>
            <a:ext cx="157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응답처리</a:t>
            </a:r>
            <a:endParaRPr sz="2100"/>
          </a:p>
        </p:txBody>
      </p:sp>
      <p:sp>
        <p:nvSpPr>
          <p:cNvPr id="964" name="Google Shape;964;p79"/>
          <p:cNvSpPr txBox="1"/>
          <p:nvPr/>
        </p:nvSpPr>
        <p:spPr>
          <a:xfrm>
            <a:off x="2442059" y="7063738"/>
            <a:ext cx="1989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41413"/>
                </a:solidFill>
                <a:latin typeface="Calibri"/>
                <a:ea typeface="Calibri"/>
                <a:cs typeface="Calibri"/>
                <a:sym typeface="Calibri"/>
              </a:rPr>
              <a:t>AJAX 여부 판단 후 응답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79"/>
          <p:cNvSpPr/>
          <p:nvPr/>
        </p:nvSpPr>
        <p:spPr>
          <a:xfrm>
            <a:off x="4939000" y="1714500"/>
            <a:ext cx="6794400" cy="411600"/>
          </a:xfrm>
          <a:prstGeom prst="rect">
            <a:avLst/>
          </a:prstGeom>
          <a:solidFill>
            <a:srgbClr val="E2EAFF"/>
          </a:solidFill>
          <a:ln w="9525" cap="flat" cmpd="sng">
            <a:solidFill>
              <a:srgbClr val="C5D5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79"/>
          <p:cNvSpPr txBox="1"/>
          <p:nvPr/>
        </p:nvSpPr>
        <p:spPr>
          <a:xfrm>
            <a:off x="5025739" y="1769364"/>
            <a:ext cx="6649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5657A"/>
                </a:solidFill>
                <a:latin typeface="Calibri"/>
                <a:ea typeface="Calibri"/>
                <a:cs typeface="Calibri"/>
                <a:sym typeface="Calibri"/>
              </a:rPr>
              <a:t>news_service</a:t>
            </a:r>
            <a:r>
              <a:rPr lang="en-US" sz="1400" b="0" i="0" u="none" strike="noStrike" cap="none">
                <a:solidFill>
                  <a:srgbClr val="55657A"/>
                </a:solidFill>
                <a:latin typeface="Calibri"/>
                <a:ea typeface="Calibri"/>
                <a:cs typeface="Calibri"/>
                <a:sym typeface="Calibri"/>
              </a:rPr>
              <a:t>.py —  뉴스 수집 함수 ( </a:t>
            </a:r>
            <a:r>
              <a:rPr lang="en-US">
                <a:solidFill>
                  <a:srgbClr val="55657A"/>
                </a:solidFill>
                <a:latin typeface="Calibri"/>
                <a:ea typeface="Calibri"/>
                <a:cs typeface="Calibri"/>
                <a:sym typeface="Calibri"/>
              </a:rPr>
              <a:t>키워드, 예외처리)</a:t>
            </a:r>
            <a:endParaRPr sz="2100"/>
          </a:p>
        </p:txBody>
      </p:sp>
      <p:sp>
        <p:nvSpPr>
          <p:cNvPr id="967" name="Google Shape;967;p79"/>
          <p:cNvSpPr/>
          <p:nvPr/>
        </p:nvSpPr>
        <p:spPr>
          <a:xfrm>
            <a:off x="4939005" y="2125970"/>
            <a:ext cx="6794400" cy="7475100"/>
          </a:xfrm>
          <a:prstGeom prst="rect">
            <a:avLst/>
          </a:prstGeom>
          <a:solidFill>
            <a:srgbClr val="F0F4FF"/>
          </a:solidFill>
          <a:ln w="9525" cap="flat" cmpd="sng">
            <a:solidFill>
              <a:srgbClr val="C5D5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79"/>
          <p:cNvSpPr/>
          <p:nvPr/>
        </p:nvSpPr>
        <p:spPr>
          <a:xfrm>
            <a:off x="4939000" y="2125969"/>
            <a:ext cx="68700" cy="7475100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79"/>
          <p:cNvSpPr txBox="1"/>
          <p:nvPr/>
        </p:nvSpPr>
        <p:spPr>
          <a:xfrm>
            <a:off x="5096253" y="2362742"/>
            <a:ext cx="6592200" cy="6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def update_news():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conn = None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   conn = get_conn()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A8A3C"/>
                </a:solidFill>
                <a:latin typeface="Consolas"/>
                <a:ea typeface="Consolas"/>
                <a:cs typeface="Consolas"/>
                <a:sym typeface="Consolas"/>
              </a:rPr>
              <a:t>        # 방산 키워드 쿼리 (주요 방산기업 + 방산 키워드)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   query = "(한화에어로스페이스 | KAI | 방산 | 방산부)",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6A309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A8A3C"/>
                </a:solidFill>
                <a:latin typeface="Consolas"/>
                <a:ea typeface="Consolas"/>
                <a:cs typeface="Consolas"/>
                <a:sym typeface="Consolas"/>
              </a:rPr>
              <a:t>        # 1. API를 통한 뉴스 목록 수집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   news_list = fetch_news(query)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6A309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A8A3C"/>
                </a:solidFill>
                <a:latin typeface="Consolas"/>
                <a:ea typeface="Consolas"/>
                <a:cs typeface="Consolas"/>
                <a:sym typeface="Consolas"/>
              </a:rPr>
              <a:t>        # 2. 수집된 각 뉴스를 순회하며 DB 저장 시도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    for item in news_list: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        try: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           save_news(conn, item)</a:t>
            </a:r>
            <a:endParaRPr sz="1400" b="0" i="0" u="none" strike="noStrike" cap="none">
              <a:solidFill>
                <a:srgbClr val="6A309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-US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except Exception as e: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5A8A3C"/>
                </a:solidFill>
                <a:latin typeface="Consolas"/>
                <a:ea typeface="Consolas"/>
                <a:cs typeface="Consolas"/>
                <a:sym typeface="Consolas"/>
              </a:rPr>
              <a:t>       # 개별 뉴스 저장 실패 시 로그를 남기고 다음 뉴스 계속 진행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                print(f"뉴스 저장 실패 ({item.get('link')}): {e}")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rgbClr val="C0392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   conn.commit()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        print(f"{len(news_list)}개 뉴스 수집 완료")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rgbClr val="C0392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finally: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5A8A3C"/>
                </a:solidFill>
                <a:latin typeface="Consolas"/>
                <a:ea typeface="Consolas"/>
                <a:cs typeface="Consolas"/>
                <a:sym typeface="Consolas"/>
              </a:rPr>
              <a:t>        # DB 연결 해제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    if conn: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       conn.close()</a:t>
            </a:r>
            <a:endParaRPr>
              <a:solidFill>
                <a:srgbClr val="6A309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0" name="Google Shape;970;p79"/>
          <p:cNvSpPr/>
          <p:nvPr/>
        </p:nvSpPr>
        <p:spPr>
          <a:xfrm>
            <a:off x="12011487" y="1714500"/>
            <a:ext cx="5889000" cy="411600"/>
          </a:xfrm>
          <a:prstGeom prst="rect">
            <a:avLst/>
          </a:prstGeom>
          <a:solidFill>
            <a:srgbClr val="E2EAFF"/>
          </a:solidFill>
          <a:ln w="9525" cap="flat" cmpd="sng">
            <a:solidFill>
              <a:srgbClr val="C5D5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79"/>
          <p:cNvSpPr txBox="1"/>
          <p:nvPr/>
        </p:nvSpPr>
        <p:spPr>
          <a:xfrm>
            <a:off x="12086664" y="1769364"/>
            <a:ext cx="5763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5657A"/>
                </a:solidFill>
                <a:latin typeface="Calibri"/>
                <a:ea typeface="Calibri"/>
                <a:cs typeface="Calibri"/>
                <a:sym typeface="Calibri"/>
              </a:rPr>
              <a:t>news</a:t>
            </a:r>
            <a:r>
              <a:rPr lang="en-US" sz="1400" b="0" i="0" u="none" strike="noStrike" cap="none">
                <a:solidFill>
                  <a:srgbClr val="55657A"/>
                </a:solidFill>
                <a:latin typeface="Calibri"/>
                <a:ea typeface="Calibri"/>
                <a:cs typeface="Calibri"/>
                <a:sym typeface="Calibri"/>
              </a:rPr>
              <a:t>.py —</a:t>
            </a:r>
            <a:r>
              <a:rPr lang="en-US" sz="1400" i="0" u="none" strike="noStrike" cap="none">
                <a:solidFill>
                  <a:srgbClr val="5565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55657A"/>
                </a:solidFill>
                <a:latin typeface="Calibri"/>
                <a:ea typeface="Calibri"/>
                <a:cs typeface="Calibri"/>
                <a:sym typeface="Calibri"/>
              </a:rPr>
              <a:t>AJAX 기반 비동기 처리</a:t>
            </a:r>
            <a:endParaRPr sz="2100">
              <a:solidFill>
                <a:srgbClr val="5565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79"/>
          <p:cNvSpPr/>
          <p:nvPr/>
        </p:nvSpPr>
        <p:spPr>
          <a:xfrm>
            <a:off x="12011487" y="2125980"/>
            <a:ext cx="5889000" cy="3566100"/>
          </a:xfrm>
          <a:prstGeom prst="rect">
            <a:avLst/>
          </a:prstGeom>
          <a:solidFill>
            <a:srgbClr val="F0F4FF"/>
          </a:solidFill>
          <a:ln w="9525" cap="flat" cmpd="sng">
            <a:solidFill>
              <a:srgbClr val="C5D5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79"/>
          <p:cNvSpPr/>
          <p:nvPr/>
        </p:nvSpPr>
        <p:spPr>
          <a:xfrm>
            <a:off x="11960975" y="2125962"/>
            <a:ext cx="64200" cy="3566100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79"/>
          <p:cNvSpPr txBox="1"/>
          <p:nvPr/>
        </p:nvSpPr>
        <p:spPr>
          <a:xfrm>
            <a:off x="12124252" y="2305520"/>
            <a:ext cx="5713200" cy="24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5A8A3C"/>
                </a:solidFill>
                <a:latin typeface="Consolas"/>
                <a:ea typeface="Consolas"/>
                <a:cs typeface="Consolas"/>
                <a:sym typeface="Consolas"/>
              </a:rPr>
              <a:t># AJAX 응답 시</a:t>
            </a:r>
            <a:endParaRPr>
              <a:solidFill>
                <a:srgbClr val="5A8A3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if is_ajax:</a:t>
            </a:r>
            <a:endParaRPr>
              <a:solidFill>
                <a:srgbClr val="00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ry":  search_query</a:t>
            </a:r>
            <a:endParaRPr>
              <a:solidFill>
                <a:srgbClr val="C0392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})</a:t>
            </a:r>
            <a:endParaRPr>
              <a:solidFill>
                <a:srgbClr val="2D3A4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return jsonify({</a:t>
            </a:r>
            <a:endParaRPr>
              <a:solidFill>
                <a:srgbClr val="00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        "list_news":      list_news,</a:t>
            </a:r>
            <a:endParaRPr>
              <a:solidFill>
                <a:srgbClr val="C0392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        "top3_news":      top3_news,</a:t>
            </a:r>
            <a:endParaRPr>
              <a:solidFill>
                <a:srgbClr val="C0392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        "pagination":     pagination,</a:t>
            </a:r>
            <a:endParaRPr>
              <a:solidFill>
                <a:srgbClr val="C0392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SzPts val="1100"/>
              <a:buNone/>
            </a:pPr>
            <a:r>
              <a:rPr lang="en-US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        "current_que</a:t>
            </a:r>
            <a:endParaRPr sz="1900">
              <a:solidFill>
                <a:srgbClr val="00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75" name="Google Shape;975;p79"/>
          <p:cNvPicPr preferRelativeResize="0"/>
          <p:nvPr/>
        </p:nvPicPr>
        <p:blipFill rotWithShape="1">
          <a:blip r:embed="rId3">
            <a:alphaModFix/>
          </a:blip>
          <a:srcRect l="15349" t="6216" r="14979" b="1277"/>
          <a:stretch/>
        </p:blipFill>
        <p:spPr>
          <a:xfrm>
            <a:off x="12124250" y="5932394"/>
            <a:ext cx="5526600" cy="3475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06317" y="7074091"/>
            <a:ext cx="445457" cy="82813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79"/>
          <p:cNvSpPr/>
          <p:nvPr/>
        </p:nvSpPr>
        <p:spPr>
          <a:xfrm>
            <a:off x="16078550" y="9198199"/>
            <a:ext cx="1392600" cy="685800"/>
          </a:xfrm>
          <a:prstGeom prst="roundRect">
            <a:avLst>
              <a:gd name="adj" fmla="val 16667"/>
            </a:avLst>
          </a:prstGeom>
          <a:noFill/>
          <a:ln w="169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9875" tIns="49875" rIns="49875" bIns="498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63"/>
          </a:p>
        </p:txBody>
      </p:sp>
      <p:pic>
        <p:nvPicPr>
          <p:cNvPr id="978" name="Google Shape;978;p79"/>
          <p:cNvPicPr preferRelativeResize="0"/>
          <p:nvPr/>
        </p:nvPicPr>
        <p:blipFill rotWithShape="1">
          <a:blip r:embed="rId5">
            <a:alphaModFix/>
          </a:blip>
          <a:srcRect l="9240" r="6987"/>
          <a:stretch/>
        </p:blipFill>
        <p:spPr>
          <a:xfrm>
            <a:off x="16078550" y="9198199"/>
            <a:ext cx="1392600" cy="685800"/>
          </a:xfrm>
          <a:prstGeom prst="roundRect">
            <a:avLst>
              <a:gd name="adj" fmla="val 16667"/>
            </a:avLst>
          </a:prstGeom>
          <a:noFill/>
          <a:ln w="16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979" name="Google Shape;979;p79"/>
          <p:cNvCxnSpPr>
            <a:endCxn id="978" idx="1"/>
          </p:cNvCxnSpPr>
          <p:nvPr/>
        </p:nvCxnSpPr>
        <p:spPr>
          <a:xfrm rot="10800000" flipH="1">
            <a:off x="15066050" y="9541099"/>
            <a:ext cx="1012500" cy="274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80" name="Google Shape;980;p79"/>
          <p:cNvSpPr/>
          <p:nvPr/>
        </p:nvSpPr>
        <p:spPr>
          <a:xfrm>
            <a:off x="14550675" y="9676950"/>
            <a:ext cx="515400" cy="2745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80"/>
          <p:cNvSpPr/>
          <p:nvPr/>
        </p:nvSpPr>
        <p:spPr>
          <a:xfrm>
            <a:off x="0" y="0"/>
            <a:ext cx="18288003" cy="1371600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80"/>
          <p:cNvSpPr txBox="1"/>
          <p:nvPr/>
        </p:nvSpPr>
        <p:spPr>
          <a:xfrm>
            <a:off x="480180" y="164592"/>
            <a:ext cx="13719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Trial &amp; Error — 문제 해결 과정 (1)</a:t>
            </a:r>
            <a:endParaRPr sz="2100"/>
          </a:p>
        </p:txBody>
      </p:sp>
      <p:sp>
        <p:nvSpPr>
          <p:cNvPr id="987" name="Google Shape;987;p80"/>
          <p:cNvSpPr txBox="1"/>
          <p:nvPr/>
        </p:nvSpPr>
        <p:spPr>
          <a:xfrm>
            <a:off x="521338" y="918972"/>
            <a:ext cx="137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988" name="Google Shape;988;p80"/>
          <p:cNvSpPr/>
          <p:nvPr/>
        </p:nvSpPr>
        <p:spPr>
          <a:xfrm>
            <a:off x="9870061" y="1873789"/>
            <a:ext cx="6921000" cy="7818000"/>
          </a:xfrm>
          <a:prstGeom prst="rect">
            <a:avLst/>
          </a:prstGeom>
          <a:solidFill>
            <a:srgbClr val="FFFFFF"/>
          </a:solidFill>
          <a:ln w="10150" cap="flat" cmpd="sng">
            <a:solidFill>
              <a:srgbClr val="CCD9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80"/>
          <p:cNvSpPr/>
          <p:nvPr/>
        </p:nvSpPr>
        <p:spPr>
          <a:xfrm>
            <a:off x="9870061" y="1873789"/>
            <a:ext cx="6921000" cy="658500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80"/>
          <p:cNvSpPr txBox="1"/>
          <p:nvPr/>
        </p:nvSpPr>
        <p:spPr>
          <a:xfrm>
            <a:off x="10129585" y="1942369"/>
            <a:ext cx="6574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#01  뉴스 이미지 한계</a:t>
            </a:r>
            <a:endParaRPr sz="2100"/>
          </a:p>
        </p:txBody>
      </p:sp>
      <p:sp>
        <p:nvSpPr>
          <p:cNvPr id="991" name="Google Shape;991;p80"/>
          <p:cNvSpPr/>
          <p:nvPr/>
        </p:nvSpPr>
        <p:spPr>
          <a:xfrm>
            <a:off x="10129585" y="2696749"/>
            <a:ext cx="6436200" cy="356700"/>
          </a:xfrm>
          <a:prstGeom prst="rect">
            <a:avLst/>
          </a:prstGeom>
          <a:solidFill>
            <a:srgbClr val="FFEBEB"/>
          </a:solidFill>
          <a:ln w="9525" cap="flat" cmpd="sng">
            <a:solidFill>
              <a:srgbClr val="F0CCC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80"/>
          <p:cNvSpPr txBox="1"/>
          <p:nvPr/>
        </p:nvSpPr>
        <p:spPr>
          <a:xfrm>
            <a:off x="10216096" y="2724181"/>
            <a:ext cx="1730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C2222"/>
                </a:solidFill>
                <a:latin typeface="Calibri"/>
                <a:ea typeface="Calibri"/>
                <a:cs typeface="Calibri"/>
                <a:sym typeface="Calibri"/>
              </a:rPr>
              <a:t>❌ 문제</a:t>
            </a:r>
            <a:endParaRPr sz="2100"/>
          </a:p>
        </p:txBody>
      </p:sp>
      <p:sp>
        <p:nvSpPr>
          <p:cNvPr id="993" name="Google Shape;993;p80"/>
          <p:cNvSpPr txBox="1"/>
          <p:nvPr/>
        </p:nvSpPr>
        <p:spPr>
          <a:xfrm>
            <a:off x="10216096" y="3108229"/>
            <a:ext cx="63150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네이버 </a:t>
            </a:r>
            <a:r>
              <a:rPr lang="en-US" sz="16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API만으로는 기사 썸네일 확보 어려움</a:t>
            </a:r>
            <a:endParaRPr sz="2300"/>
          </a:p>
        </p:txBody>
      </p:sp>
      <p:sp>
        <p:nvSpPr>
          <p:cNvPr id="994" name="Google Shape;994;p80"/>
          <p:cNvSpPr/>
          <p:nvPr/>
        </p:nvSpPr>
        <p:spPr>
          <a:xfrm>
            <a:off x="10129585" y="4136929"/>
            <a:ext cx="6436200" cy="356700"/>
          </a:xfrm>
          <a:prstGeom prst="rect">
            <a:avLst/>
          </a:prstGeom>
          <a:solidFill>
            <a:srgbClr val="E8F8EE"/>
          </a:solidFill>
          <a:ln w="9525" cap="flat" cmpd="sng">
            <a:solidFill>
              <a:srgbClr val="AADDB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80"/>
          <p:cNvSpPr txBox="1"/>
          <p:nvPr/>
        </p:nvSpPr>
        <p:spPr>
          <a:xfrm>
            <a:off x="10216096" y="4164361"/>
            <a:ext cx="1730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✅ 해결</a:t>
            </a:r>
            <a:endParaRPr sz="2100"/>
          </a:p>
        </p:txBody>
      </p:sp>
      <p:sp>
        <p:nvSpPr>
          <p:cNvPr id="996" name="Google Shape;996;p80"/>
          <p:cNvSpPr txBox="1"/>
          <p:nvPr/>
        </p:nvSpPr>
        <p:spPr>
          <a:xfrm>
            <a:off x="10216096" y="4548409"/>
            <a:ext cx="63150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원문 페이지 크롤링으로 OG 대표 이미지 추출</a:t>
            </a:r>
            <a:endParaRPr sz="2300"/>
          </a:p>
        </p:txBody>
      </p:sp>
      <p:sp>
        <p:nvSpPr>
          <p:cNvPr id="997" name="Google Shape;997;p80"/>
          <p:cNvSpPr/>
          <p:nvPr/>
        </p:nvSpPr>
        <p:spPr>
          <a:xfrm>
            <a:off x="10129585" y="5577109"/>
            <a:ext cx="6436200" cy="356700"/>
          </a:xfrm>
          <a:prstGeom prst="rect">
            <a:avLst/>
          </a:prstGeom>
          <a:solidFill>
            <a:srgbClr val="E2EAFF"/>
          </a:solidFill>
          <a:ln w="9525" cap="flat" cmpd="sng">
            <a:solidFill>
              <a:srgbClr val="C5D5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80"/>
          <p:cNvSpPr txBox="1"/>
          <p:nvPr/>
        </p:nvSpPr>
        <p:spPr>
          <a:xfrm>
            <a:off x="10302604" y="5631973"/>
            <a:ext cx="121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657A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sz="2100"/>
          </a:p>
        </p:txBody>
      </p:sp>
      <p:sp>
        <p:nvSpPr>
          <p:cNvPr id="999" name="Google Shape;999;p80"/>
          <p:cNvSpPr/>
          <p:nvPr/>
        </p:nvSpPr>
        <p:spPr>
          <a:xfrm>
            <a:off x="10129585" y="5933725"/>
            <a:ext cx="6436200" cy="3634800"/>
          </a:xfrm>
          <a:prstGeom prst="rect">
            <a:avLst/>
          </a:prstGeom>
          <a:solidFill>
            <a:srgbClr val="F0F4FF"/>
          </a:solidFill>
          <a:ln w="9525" cap="flat" cmpd="sng">
            <a:solidFill>
              <a:srgbClr val="C5D5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80"/>
          <p:cNvSpPr/>
          <p:nvPr/>
        </p:nvSpPr>
        <p:spPr>
          <a:xfrm>
            <a:off x="10129585" y="5933725"/>
            <a:ext cx="86700" cy="3634800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80"/>
          <p:cNvSpPr txBox="1"/>
          <p:nvPr/>
        </p:nvSpPr>
        <p:spPr>
          <a:xfrm>
            <a:off x="10354510" y="6043453"/>
            <a:ext cx="6090000" cy="28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def extract_image_from_html(url):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   resp = _session.get(url, timeout=10)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   soup = BeautifulSoup(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        resp.text, 'html.parser')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   meta = soup.find('meta',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        property='og:image')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    if meta: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        return meta['content']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except Exception: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    pass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return None</a:t>
            </a:r>
            <a:endParaRPr sz="2100"/>
          </a:p>
        </p:txBody>
      </p:sp>
      <p:sp>
        <p:nvSpPr>
          <p:cNvPr id="1002" name="Google Shape;1002;p80"/>
          <p:cNvSpPr/>
          <p:nvPr/>
        </p:nvSpPr>
        <p:spPr>
          <a:xfrm>
            <a:off x="1496933" y="1850325"/>
            <a:ext cx="6921000" cy="7818000"/>
          </a:xfrm>
          <a:prstGeom prst="rect">
            <a:avLst/>
          </a:prstGeom>
          <a:solidFill>
            <a:srgbClr val="FFFFFF"/>
          </a:solidFill>
          <a:ln w="10150" cap="flat" cmpd="sng">
            <a:solidFill>
              <a:srgbClr val="CCD9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3" name="Google Shape;1003;p80"/>
          <p:cNvPicPr preferRelativeResize="0"/>
          <p:nvPr/>
        </p:nvPicPr>
        <p:blipFill rotWithShape="1">
          <a:blip r:embed="rId3">
            <a:alphaModFix/>
          </a:blip>
          <a:srcRect l="2648" b="32153"/>
          <a:stretch/>
        </p:blipFill>
        <p:spPr>
          <a:xfrm>
            <a:off x="2367516" y="1946214"/>
            <a:ext cx="5179824" cy="338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80"/>
          <p:cNvPicPr preferRelativeResize="0"/>
          <p:nvPr/>
        </p:nvPicPr>
        <p:blipFill rotWithShape="1">
          <a:blip r:embed="rId4">
            <a:alphaModFix/>
          </a:blip>
          <a:srcRect b="12892"/>
          <a:stretch/>
        </p:blipFill>
        <p:spPr>
          <a:xfrm>
            <a:off x="2367528" y="6004950"/>
            <a:ext cx="5480751" cy="350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80"/>
          <p:cNvSpPr/>
          <p:nvPr/>
        </p:nvSpPr>
        <p:spPr>
          <a:xfrm rot="5400000">
            <a:off x="4684282" y="5451151"/>
            <a:ext cx="546300" cy="663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95959"/>
          </a:solidFill>
          <a:ln w="102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025" tIns="98025" rIns="98025" bIns="98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1"/>
          <p:cNvSpPr/>
          <p:nvPr/>
        </p:nvSpPr>
        <p:spPr>
          <a:xfrm>
            <a:off x="0" y="0"/>
            <a:ext cx="18288000" cy="1371600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81"/>
          <p:cNvSpPr txBox="1"/>
          <p:nvPr/>
        </p:nvSpPr>
        <p:spPr>
          <a:xfrm>
            <a:off x="480180" y="164592"/>
            <a:ext cx="13719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Trial &amp; Error — 문제 해결 과정 (2)</a:t>
            </a:r>
            <a:endParaRPr sz="2100"/>
          </a:p>
        </p:txBody>
      </p:sp>
      <p:sp>
        <p:nvSpPr>
          <p:cNvPr id="1012" name="Google Shape;1012;p81"/>
          <p:cNvSpPr/>
          <p:nvPr/>
        </p:nvSpPr>
        <p:spPr>
          <a:xfrm>
            <a:off x="9840919" y="1864757"/>
            <a:ext cx="6921000" cy="7818000"/>
          </a:xfrm>
          <a:prstGeom prst="rect">
            <a:avLst/>
          </a:prstGeom>
          <a:solidFill>
            <a:srgbClr val="FFFFFF"/>
          </a:solidFill>
          <a:ln w="10150" cap="flat" cmpd="sng">
            <a:solidFill>
              <a:srgbClr val="CCD9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81"/>
          <p:cNvSpPr/>
          <p:nvPr/>
        </p:nvSpPr>
        <p:spPr>
          <a:xfrm>
            <a:off x="9840919" y="1864757"/>
            <a:ext cx="6921000" cy="65850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81"/>
          <p:cNvSpPr txBox="1"/>
          <p:nvPr/>
        </p:nvSpPr>
        <p:spPr>
          <a:xfrm>
            <a:off x="10100455" y="1933337"/>
            <a:ext cx="6575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#02  중복 기사 저장</a:t>
            </a:r>
            <a:endParaRPr sz="2100"/>
          </a:p>
        </p:txBody>
      </p:sp>
      <p:sp>
        <p:nvSpPr>
          <p:cNvPr id="1015" name="Google Shape;1015;p81"/>
          <p:cNvSpPr/>
          <p:nvPr/>
        </p:nvSpPr>
        <p:spPr>
          <a:xfrm>
            <a:off x="10100455" y="2687717"/>
            <a:ext cx="6436500" cy="356700"/>
          </a:xfrm>
          <a:prstGeom prst="rect">
            <a:avLst/>
          </a:prstGeom>
          <a:solidFill>
            <a:srgbClr val="FFEBEB"/>
          </a:solidFill>
          <a:ln w="9525" cap="flat" cmpd="sng">
            <a:solidFill>
              <a:srgbClr val="F0CCC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81"/>
          <p:cNvSpPr txBox="1"/>
          <p:nvPr/>
        </p:nvSpPr>
        <p:spPr>
          <a:xfrm>
            <a:off x="10186966" y="2715149"/>
            <a:ext cx="1730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C2222"/>
                </a:solidFill>
                <a:latin typeface="Calibri"/>
                <a:ea typeface="Calibri"/>
                <a:cs typeface="Calibri"/>
                <a:sym typeface="Calibri"/>
              </a:rPr>
              <a:t>❌ 문제</a:t>
            </a:r>
            <a:endParaRPr sz="2100"/>
          </a:p>
        </p:txBody>
      </p:sp>
      <p:sp>
        <p:nvSpPr>
          <p:cNvPr id="1017" name="Google Shape;1017;p81"/>
          <p:cNvSpPr txBox="1"/>
          <p:nvPr/>
        </p:nvSpPr>
        <p:spPr>
          <a:xfrm>
            <a:off x="10186966" y="3099197"/>
            <a:ext cx="6315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뉴스 반복 수집 시 동일 기사</a:t>
            </a:r>
            <a:b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중복 저장 문제 발생</a:t>
            </a:r>
            <a:endParaRPr sz="2100"/>
          </a:p>
        </p:txBody>
      </p:sp>
      <p:sp>
        <p:nvSpPr>
          <p:cNvPr id="1018" name="Google Shape;1018;p81"/>
          <p:cNvSpPr/>
          <p:nvPr/>
        </p:nvSpPr>
        <p:spPr>
          <a:xfrm>
            <a:off x="10100455" y="4127897"/>
            <a:ext cx="6436500" cy="356700"/>
          </a:xfrm>
          <a:prstGeom prst="rect">
            <a:avLst/>
          </a:prstGeom>
          <a:solidFill>
            <a:srgbClr val="E8F8EE"/>
          </a:solidFill>
          <a:ln w="9525" cap="flat" cmpd="sng">
            <a:solidFill>
              <a:srgbClr val="AADDB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81"/>
          <p:cNvSpPr txBox="1"/>
          <p:nvPr/>
        </p:nvSpPr>
        <p:spPr>
          <a:xfrm>
            <a:off x="10186966" y="4155329"/>
            <a:ext cx="1730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✅ 해결</a:t>
            </a:r>
            <a:endParaRPr sz="2100"/>
          </a:p>
        </p:txBody>
      </p:sp>
      <p:sp>
        <p:nvSpPr>
          <p:cNvPr id="1020" name="Google Shape;1020;p81"/>
          <p:cNvSpPr txBox="1"/>
          <p:nvPr/>
        </p:nvSpPr>
        <p:spPr>
          <a:xfrm>
            <a:off x="10186966" y="4539377"/>
            <a:ext cx="6315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기사 원문 링크 source_url을 유니크값으로 설정</a:t>
            </a:r>
            <a:b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동일 기사 재수집 시 UPDATE 처리</a:t>
            </a:r>
            <a:endParaRPr sz="2100"/>
          </a:p>
        </p:txBody>
      </p:sp>
      <p:sp>
        <p:nvSpPr>
          <p:cNvPr id="1021" name="Google Shape;1021;p81"/>
          <p:cNvSpPr/>
          <p:nvPr/>
        </p:nvSpPr>
        <p:spPr>
          <a:xfrm>
            <a:off x="10100455" y="5568077"/>
            <a:ext cx="6436500" cy="356700"/>
          </a:xfrm>
          <a:prstGeom prst="rect">
            <a:avLst/>
          </a:prstGeom>
          <a:solidFill>
            <a:srgbClr val="E2EAFF"/>
          </a:solidFill>
          <a:ln w="9525" cap="flat" cmpd="sng">
            <a:solidFill>
              <a:srgbClr val="C5D5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81"/>
          <p:cNvSpPr txBox="1"/>
          <p:nvPr/>
        </p:nvSpPr>
        <p:spPr>
          <a:xfrm>
            <a:off x="10273477" y="5622941"/>
            <a:ext cx="121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657A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sz="2100"/>
          </a:p>
        </p:txBody>
      </p:sp>
      <p:sp>
        <p:nvSpPr>
          <p:cNvPr id="1023" name="Google Shape;1023;p81"/>
          <p:cNvSpPr/>
          <p:nvPr/>
        </p:nvSpPr>
        <p:spPr>
          <a:xfrm>
            <a:off x="10100455" y="5924693"/>
            <a:ext cx="6436500" cy="3634800"/>
          </a:xfrm>
          <a:prstGeom prst="rect">
            <a:avLst/>
          </a:prstGeom>
          <a:solidFill>
            <a:srgbClr val="F0F4FF"/>
          </a:solidFill>
          <a:ln w="9525" cap="flat" cmpd="sng">
            <a:solidFill>
              <a:srgbClr val="C5D5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81"/>
          <p:cNvSpPr/>
          <p:nvPr/>
        </p:nvSpPr>
        <p:spPr>
          <a:xfrm>
            <a:off x="10100455" y="5924693"/>
            <a:ext cx="86700" cy="363480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81"/>
          <p:cNvSpPr txBox="1"/>
          <p:nvPr/>
        </p:nvSpPr>
        <p:spPr>
          <a:xfrm>
            <a:off x="10325384" y="6034421"/>
            <a:ext cx="6090000" cy="25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sql = '''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INSERT INTO news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(title, summary, source_url ...)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VALUES (%s, %s, %s ...)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ON DUPLICATE KEY UPDATE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title   = VALUES(title),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summary = VALUES(summary),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source_url = VALUES(source_url)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'''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cursor.execute(sql,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(title, summary, ...))</a:t>
            </a:r>
            <a:endParaRPr sz="2100"/>
          </a:p>
        </p:txBody>
      </p:sp>
      <p:sp>
        <p:nvSpPr>
          <p:cNvPr id="1026" name="Google Shape;1026;p81"/>
          <p:cNvSpPr/>
          <p:nvPr/>
        </p:nvSpPr>
        <p:spPr>
          <a:xfrm>
            <a:off x="1431500" y="3627650"/>
            <a:ext cx="6921000" cy="4611300"/>
          </a:xfrm>
          <a:prstGeom prst="rect">
            <a:avLst/>
          </a:prstGeom>
          <a:solidFill>
            <a:srgbClr val="FFFFFF"/>
          </a:solidFill>
          <a:ln w="10150" cap="flat" cmpd="sng">
            <a:solidFill>
              <a:srgbClr val="CCD9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7" name="Google Shape;1027;p81"/>
          <p:cNvPicPr preferRelativeResize="0"/>
          <p:nvPr/>
        </p:nvPicPr>
        <p:blipFill rotWithShape="1">
          <a:blip r:embed="rId3">
            <a:alphaModFix/>
          </a:blip>
          <a:srcRect r="17783"/>
          <a:stretch/>
        </p:blipFill>
        <p:spPr>
          <a:xfrm>
            <a:off x="1604450" y="4014508"/>
            <a:ext cx="6575100" cy="3653030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81"/>
          <p:cNvSpPr/>
          <p:nvPr/>
        </p:nvSpPr>
        <p:spPr>
          <a:xfrm>
            <a:off x="5742619" y="6240670"/>
            <a:ext cx="391800" cy="342300"/>
          </a:xfrm>
          <a:prstGeom prst="roundRect">
            <a:avLst>
              <a:gd name="adj" fmla="val 16667"/>
            </a:avLst>
          </a:prstGeom>
          <a:noFill/>
          <a:ln w="4037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6900" tIns="96900" rIns="96900" bIns="96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83"/>
          </a:p>
        </p:txBody>
      </p:sp>
      <p:sp>
        <p:nvSpPr>
          <p:cNvPr id="1029" name="Google Shape;1029;p81"/>
          <p:cNvSpPr/>
          <p:nvPr/>
        </p:nvSpPr>
        <p:spPr>
          <a:xfrm>
            <a:off x="10325386" y="6936234"/>
            <a:ext cx="2402100" cy="323100"/>
          </a:xfrm>
          <a:prstGeom prst="roundRect">
            <a:avLst>
              <a:gd name="adj" fmla="val 16667"/>
            </a:avLst>
          </a:prstGeom>
          <a:noFill/>
          <a:ln w="4037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6900" tIns="96900" rIns="96900" bIns="96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83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2"/>
          <p:cNvSpPr/>
          <p:nvPr/>
        </p:nvSpPr>
        <p:spPr>
          <a:xfrm>
            <a:off x="0" y="0"/>
            <a:ext cx="18288003" cy="1371600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82"/>
          <p:cNvSpPr txBox="1"/>
          <p:nvPr/>
        </p:nvSpPr>
        <p:spPr>
          <a:xfrm>
            <a:off x="480180" y="164592"/>
            <a:ext cx="13719432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랭크 페이지 핵심 로직</a:t>
            </a:r>
            <a:endParaRPr sz="2100"/>
          </a:p>
        </p:txBody>
      </p:sp>
      <p:sp>
        <p:nvSpPr>
          <p:cNvPr id="1036" name="Google Shape;1036;p82"/>
          <p:cNvSpPr txBox="1"/>
          <p:nvPr/>
        </p:nvSpPr>
        <p:spPr>
          <a:xfrm>
            <a:off x="521338" y="918972"/>
            <a:ext cx="1371943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B8D4FF"/>
                </a:solidFill>
                <a:latin typeface="Calibri"/>
                <a:ea typeface="Calibri"/>
                <a:cs typeface="Calibri"/>
                <a:sym typeface="Calibri"/>
              </a:rPr>
              <a:t>rank.py, rank.html</a:t>
            </a:r>
            <a:endParaRPr sz="2100"/>
          </a:p>
        </p:txBody>
      </p:sp>
      <p:sp>
        <p:nvSpPr>
          <p:cNvPr id="1037" name="Google Shape;1037;p82"/>
          <p:cNvSpPr/>
          <p:nvPr/>
        </p:nvSpPr>
        <p:spPr>
          <a:xfrm>
            <a:off x="411583" y="1714500"/>
            <a:ext cx="4047232" cy="7886700"/>
          </a:xfrm>
          <a:prstGeom prst="rect">
            <a:avLst/>
          </a:prstGeom>
          <a:solidFill>
            <a:srgbClr val="FFFFFF"/>
          </a:solidFill>
          <a:ln w="10150" cap="flat" cmpd="sng">
            <a:solidFill>
              <a:srgbClr val="CCD9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82"/>
          <p:cNvSpPr txBox="1"/>
          <p:nvPr/>
        </p:nvSpPr>
        <p:spPr>
          <a:xfrm>
            <a:off x="754569" y="1892808"/>
            <a:ext cx="3429858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26BC6"/>
                </a:solidFill>
                <a:latin typeface="Calibri"/>
                <a:ea typeface="Calibri"/>
                <a:cs typeface="Calibri"/>
                <a:sym typeface="Calibri"/>
              </a:rPr>
              <a:t>처리 흐름</a:t>
            </a:r>
            <a:endParaRPr sz="2100"/>
          </a:p>
        </p:txBody>
      </p:sp>
      <p:sp>
        <p:nvSpPr>
          <p:cNvPr id="1039" name="Google Shape;1039;p82"/>
          <p:cNvSpPr/>
          <p:nvPr/>
        </p:nvSpPr>
        <p:spPr>
          <a:xfrm>
            <a:off x="713410" y="2743200"/>
            <a:ext cx="1646332" cy="521208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82"/>
          <p:cNvSpPr txBox="1"/>
          <p:nvPr/>
        </p:nvSpPr>
        <p:spPr>
          <a:xfrm>
            <a:off x="713410" y="2798064"/>
            <a:ext cx="164633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 연결</a:t>
            </a:r>
            <a:endParaRPr sz="2100"/>
          </a:p>
        </p:txBody>
      </p:sp>
      <p:sp>
        <p:nvSpPr>
          <p:cNvPr id="1041" name="Google Shape;1041;p82"/>
          <p:cNvSpPr txBox="1"/>
          <p:nvPr/>
        </p:nvSpPr>
        <p:spPr>
          <a:xfrm>
            <a:off x="2469498" y="2743200"/>
            <a:ext cx="1783526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get_conn()으로</a:t>
            </a:r>
            <a:b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MySQL 연결</a:t>
            </a:r>
            <a:endParaRPr sz="2100"/>
          </a:p>
        </p:txBody>
      </p:sp>
      <p:sp>
        <p:nvSpPr>
          <p:cNvPr id="1042" name="Google Shape;1042;p82"/>
          <p:cNvSpPr txBox="1"/>
          <p:nvPr/>
        </p:nvSpPr>
        <p:spPr>
          <a:xfrm>
            <a:off x="1440540" y="3332988"/>
            <a:ext cx="4801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226BC6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2100"/>
          </a:p>
        </p:txBody>
      </p:sp>
      <p:sp>
        <p:nvSpPr>
          <p:cNvPr id="1043" name="Google Shape;1043;p82"/>
          <p:cNvSpPr/>
          <p:nvPr/>
        </p:nvSpPr>
        <p:spPr>
          <a:xfrm>
            <a:off x="713410" y="4183380"/>
            <a:ext cx="1646332" cy="521208"/>
          </a:xfrm>
          <a:prstGeom prst="rect">
            <a:avLst/>
          </a:prstGeom>
          <a:solidFill>
            <a:srgbClr val="7F8C8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82"/>
          <p:cNvSpPr txBox="1"/>
          <p:nvPr/>
        </p:nvSpPr>
        <p:spPr>
          <a:xfrm>
            <a:off x="713410" y="4238244"/>
            <a:ext cx="164633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집계</a:t>
            </a:r>
            <a:endParaRPr sz="2100"/>
          </a:p>
        </p:txBody>
      </p:sp>
      <p:sp>
        <p:nvSpPr>
          <p:cNvPr id="1045" name="Google Shape;1045;p82"/>
          <p:cNvSpPr txBox="1"/>
          <p:nvPr/>
        </p:nvSpPr>
        <p:spPr>
          <a:xfrm>
            <a:off x="2469498" y="4183380"/>
            <a:ext cx="1783526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3개 테이블 JOIN</a:t>
            </a:r>
            <a:b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수익률 계산</a:t>
            </a:r>
            <a:endParaRPr sz="2100"/>
          </a:p>
        </p:txBody>
      </p:sp>
      <p:sp>
        <p:nvSpPr>
          <p:cNvPr id="1046" name="Google Shape;1046;p82"/>
          <p:cNvSpPr txBox="1"/>
          <p:nvPr/>
        </p:nvSpPr>
        <p:spPr>
          <a:xfrm>
            <a:off x="1440540" y="4773168"/>
            <a:ext cx="4801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226BC6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2100"/>
          </a:p>
        </p:txBody>
      </p:sp>
      <p:sp>
        <p:nvSpPr>
          <p:cNvPr id="1047" name="Google Shape;1047;p82"/>
          <p:cNvSpPr/>
          <p:nvPr/>
        </p:nvSpPr>
        <p:spPr>
          <a:xfrm>
            <a:off x="713410" y="5623559"/>
            <a:ext cx="1646332" cy="521208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82"/>
          <p:cNvSpPr txBox="1"/>
          <p:nvPr/>
        </p:nvSpPr>
        <p:spPr>
          <a:xfrm>
            <a:off x="713410" y="5678423"/>
            <a:ext cx="164633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데이터 가공</a:t>
            </a:r>
            <a:endParaRPr sz="2100"/>
          </a:p>
        </p:txBody>
      </p:sp>
      <p:sp>
        <p:nvSpPr>
          <p:cNvPr id="1049" name="Google Shape;1049;p82"/>
          <p:cNvSpPr txBox="1"/>
          <p:nvPr/>
        </p:nvSpPr>
        <p:spPr>
          <a:xfrm>
            <a:off x="2469498" y="5623559"/>
            <a:ext cx="1783526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avatar/float</a:t>
            </a:r>
            <a:b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기본값 처리</a:t>
            </a:r>
            <a:endParaRPr sz="2100"/>
          </a:p>
        </p:txBody>
      </p:sp>
      <p:sp>
        <p:nvSpPr>
          <p:cNvPr id="1050" name="Google Shape;1050;p82"/>
          <p:cNvSpPr txBox="1"/>
          <p:nvPr/>
        </p:nvSpPr>
        <p:spPr>
          <a:xfrm>
            <a:off x="1440540" y="6213347"/>
            <a:ext cx="4801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226BC6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2100"/>
          </a:p>
        </p:txBody>
      </p:sp>
      <p:sp>
        <p:nvSpPr>
          <p:cNvPr id="1051" name="Google Shape;1051;p82"/>
          <p:cNvSpPr/>
          <p:nvPr/>
        </p:nvSpPr>
        <p:spPr>
          <a:xfrm>
            <a:off x="713410" y="7063738"/>
            <a:ext cx="1646332" cy="521208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82"/>
          <p:cNvSpPr txBox="1"/>
          <p:nvPr/>
        </p:nvSpPr>
        <p:spPr>
          <a:xfrm>
            <a:off x="713410" y="7118604"/>
            <a:ext cx="164633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렌더링</a:t>
            </a:r>
            <a:endParaRPr sz="2100"/>
          </a:p>
        </p:txBody>
      </p:sp>
      <p:sp>
        <p:nvSpPr>
          <p:cNvPr id="1053" name="Google Shape;1053;p82"/>
          <p:cNvSpPr txBox="1"/>
          <p:nvPr/>
        </p:nvSpPr>
        <p:spPr>
          <a:xfrm>
            <a:off x="2469498" y="7063738"/>
            <a:ext cx="1783526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top3 / others</a:t>
            </a:r>
            <a:b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분리 후 전달</a:t>
            </a:r>
            <a:endParaRPr sz="2100"/>
          </a:p>
        </p:txBody>
      </p:sp>
      <p:sp>
        <p:nvSpPr>
          <p:cNvPr id="1054" name="Google Shape;1054;p82"/>
          <p:cNvSpPr/>
          <p:nvPr/>
        </p:nvSpPr>
        <p:spPr>
          <a:xfrm>
            <a:off x="4733204" y="1714500"/>
            <a:ext cx="6448133" cy="411480"/>
          </a:xfrm>
          <a:prstGeom prst="rect">
            <a:avLst/>
          </a:prstGeom>
          <a:solidFill>
            <a:srgbClr val="E2EAFF"/>
          </a:solidFill>
          <a:ln w="9525" cap="flat" cmpd="sng">
            <a:solidFill>
              <a:srgbClr val="C5D5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82"/>
          <p:cNvSpPr txBox="1"/>
          <p:nvPr/>
        </p:nvSpPr>
        <p:spPr>
          <a:xfrm>
            <a:off x="4897837" y="1769364"/>
            <a:ext cx="6173744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5657A"/>
                </a:solidFill>
                <a:latin typeface="Calibri"/>
                <a:ea typeface="Calibri"/>
                <a:cs typeface="Calibri"/>
                <a:sym typeface="Calibri"/>
              </a:rPr>
              <a:t>rank.py — 수익률 집계 SQL</a:t>
            </a:r>
            <a:endParaRPr sz="2100"/>
          </a:p>
        </p:txBody>
      </p:sp>
      <p:sp>
        <p:nvSpPr>
          <p:cNvPr id="1056" name="Google Shape;1056;p82"/>
          <p:cNvSpPr/>
          <p:nvPr/>
        </p:nvSpPr>
        <p:spPr>
          <a:xfrm>
            <a:off x="4733204" y="2125980"/>
            <a:ext cx="6448133" cy="7475220"/>
          </a:xfrm>
          <a:prstGeom prst="rect">
            <a:avLst/>
          </a:prstGeom>
          <a:solidFill>
            <a:srgbClr val="F0F4FF"/>
          </a:solidFill>
          <a:ln w="9525" cap="flat" cmpd="sng">
            <a:solidFill>
              <a:srgbClr val="C5D5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82"/>
          <p:cNvSpPr/>
          <p:nvPr/>
        </p:nvSpPr>
        <p:spPr>
          <a:xfrm>
            <a:off x="4733204" y="2125980"/>
            <a:ext cx="68597" cy="7475220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82"/>
          <p:cNvSpPr txBox="1"/>
          <p:nvPr/>
        </p:nvSpPr>
        <p:spPr>
          <a:xfrm>
            <a:off x="5311226" y="2235700"/>
            <a:ext cx="5313600" cy="7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sql = '''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u.avatar, u.nickname,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(ma.current_balance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+ IFNULL(p_sum.stock_eval,0))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 AS total_asset,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CASE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    WHEN ma.initial_balance = 0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    THEN 0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    ELSE (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       (ma.current_balance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        + IFNULL(p_sum.stock_eval,0)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         - ma.initial_balance)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        / ma.initial_balance * 100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END AS profit_rate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FROM users u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JOIN mock_accounts ma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ON u.id = ma.user_id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LEFT JOIN (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SELECT ph.user_id,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A309D"/>
                </a:solidFill>
                <a:latin typeface="Consolas"/>
                <a:ea typeface="Consolas"/>
                <a:cs typeface="Consolas"/>
                <a:sym typeface="Consolas"/>
              </a:rPr>
              <a:t>        SUM(ph.quantity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        * sd.current_price)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    AS stock_eval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FROM portfolio_holdings ph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JOIN stock_details sd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  ON ph.stock_id = sd.stock_id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    GROUP BY ph.user_id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) p_sum ON u.id = p_sum.user_id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ORDER BY total_asset DESC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'''</a:t>
            </a:r>
            <a:endParaRPr sz="2100"/>
          </a:p>
        </p:txBody>
      </p:sp>
      <p:sp>
        <p:nvSpPr>
          <p:cNvPr id="1059" name="Google Shape;1059;p82"/>
          <p:cNvSpPr/>
          <p:nvPr/>
        </p:nvSpPr>
        <p:spPr>
          <a:xfrm>
            <a:off x="11455726" y="1742878"/>
            <a:ext cx="6448200" cy="411600"/>
          </a:xfrm>
          <a:prstGeom prst="rect">
            <a:avLst/>
          </a:prstGeom>
          <a:solidFill>
            <a:srgbClr val="E2EAFF"/>
          </a:solidFill>
          <a:ln w="9525" cap="flat" cmpd="sng">
            <a:solidFill>
              <a:srgbClr val="C5D5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82"/>
          <p:cNvSpPr txBox="1"/>
          <p:nvPr/>
        </p:nvSpPr>
        <p:spPr>
          <a:xfrm>
            <a:off x="11620357" y="1797742"/>
            <a:ext cx="6173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5657A"/>
                </a:solidFill>
                <a:latin typeface="Calibri"/>
                <a:ea typeface="Calibri"/>
                <a:cs typeface="Calibri"/>
                <a:sym typeface="Calibri"/>
              </a:rPr>
              <a:t>rank.py — top3 / others 분리 후 렌더링</a:t>
            </a:r>
            <a:endParaRPr sz="2100"/>
          </a:p>
        </p:txBody>
      </p:sp>
      <p:sp>
        <p:nvSpPr>
          <p:cNvPr id="1061" name="Google Shape;1061;p82"/>
          <p:cNvSpPr/>
          <p:nvPr/>
        </p:nvSpPr>
        <p:spPr>
          <a:xfrm>
            <a:off x="11455726" y="2154358"/>
            <a:ext cx="6448200" cy="3497700"/>
          </a:xfrm>
          <a:prstGeom prst="rect">
            <a:avLst/>
          </a:prstGeom>
          <a:solidFill>
            <a:srgbClr val="F0F4FF"/>
          </a:solidFill>
          <a:ln w="9525" cap="flat" cmpd="sng">
            <a:solidFill>
              <a:srgbClr val="C5D5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82"/>
          <p:cNvSpPr/>
          <p:nvPr/>
        </p:nvSpPr>
        <p:spPr>
          <a:xfrm>
            <a:off x="11455726" y="2154358"/>
            <a:ext cx="68700" cy="3497700"/>
          </a:xfrm>
          <a:prstGeom prst="rect">
            <a:avLst/>
          </a:prstGeom>
          <a:solidFill>
            <a:srgbClr val="226BC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82"/>
          <p:cNvSpPr txBox="1"/>
          <p:nvPr/>
        </p:nvSpPr>
        <p:spPr>
          <a:xfrm>
            <a:off x="11702674" y="2264086"/>
            <a:ext cx="6063900" cy="22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A8A3C"/>
                </a:solidFill>
                <a:latin typeface="Consolas"/>
                <a:ea typeface="Consolas"/>
                <a:cs typeface="Consolas"/>
                <a:sym typeface="Consolas"/>
              </a:rPr>
              <a:t># 상위 3명은 별도 표시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top3   = rankings[:3]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others = rankings[3:]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2D3A4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55CC"/>
                </a:solidFill>
                <a:latin typeface="Consolas"/>
                <a:ea typeface="Consolas"/>
                <a:cs typeface="Consolas"/>
                <a:sym typeface="Consolas"/>
              </a:rPr>
              <a:t>return render_template(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    "rank.html",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top3=top3,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    others=others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3A4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100"/>
          </a:p>
        </p:txBody>
      </p:sp>
      <p:sp>
        <p:nvSpPr>
          <p:cNvPr id="1064" name="Google Shape;1064;p82"/>
          <p:cNvSpPr/>
          <p:nvPr/>
        </p:nvSpPr>
        <p:spPr>
          <a:xfrm>
            <a:off x="5041818" y="6843800"/>
            <a:ext cx="4047300" cy="23649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5" name="Google Shape;1065;p82"/>
          <p:cNvPicPr preferRelativeResize="0"/>
          <p:nvPr/>
        </p:nvPicPr>
        <p:blipFill rotWithShape="1">
          <a:blip r:embed="rId3">
            <a:alphaModFix/>
          </a:blip>
          <a:srcRect l="24293" t="9164" r="11624" b="6140"/>
          <a:stretch/>
        </p:blipFill>
        <p:spPr>
          <a:xfrm>
            <a:off x="11634226" y="5894200"/>
            <a:ext cx="6448123" cy="40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93204" y="6222234"/>
            <a:ext cx="495051" cy="448571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82"/>
          <p:cNvSpPr txBox="1"/>
          <p:nvPr/>
        </p:nvSpPr>
        <p:spPr>
          <a:xfrm>
            <a:off x="16109066" y="6142415"/>
            <a:ext cx="9279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3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랭킹 TOP3 </a:t>
            </a:r>
            <a:endParaRPr sz="913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8" name="Google Shape;1068;p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335078" y="7953494"/>
            <a:ext cx="495051" cy="448571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82"/>
          <p:cNvSpPr txBox="1"/>
          <p:nvPr/>
        </p:nvSpPr>
        <p:spPr>
          <a:xfrm>
            <a:off x="16761003" y="7873675"/>
            <a:ext cx="13212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3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랭킹 4위부터 리스트</a:t>
            </a:r>
            <a:endParaRPr sz="913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83"/>
          <p:cNvSpPr/>
          <p:nvPr/>
        </p:nvSpPr>
        <p:spPr>
          <a:xfrm>
            <a:off x="0" y="0"/>
            <a:ext cx="18288000" cy="329184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83"/>
          <p:cNvSpPr/>
          <p:nvPr/>
        </p:nvSpPr>
        <p:spPr>
          <a:xfrm>
            <a:off x="0" y="3291840"/>
            <a:ext cx="18288000" cy="109728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83"/>
          <p:cNvSpPr/>
          <p:nvPr/>
        </p:nvSpPr>
        <p:spPr>
          <a:xfrm>
            <a:off x="914400" y="548675"/>
            <a:ext cx="16459200" cy="21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Calibri"/>
              <a:buNone/>
            </a:pPr>
            <a:r>
              <a:rPr lang="en-US" sz="7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로그인 &amp; 회원가입 시스템</a:t>
            </a:r>
            <a:endParaRPr sz="7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83"/>
          <p:cNvSpPr/>
          <p:nvPr/>
        </p:nvSpPr>
        <p:spPr>
          <a:xfrm>
            <a:off x="1888150" y="3800668"/>
            <a:ext cx="2560200" cy="73140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83"/>
          <p:cNvSpPr/>
          <p:nvPr/>
        </p:nvSpPr>
        <p:spPr>
          <a:xfrm>
            <a:off x="1888025" y="3800675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Flask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83"/>
          <p:cNvSpPr/>
          <p:nvPr/>
        </p:nvSpPr>
        <p:spPr>
          <a:xfrm>
            <a:off x="5143245" y="3800668"/>
            <a:ext cx="2560200" cy="73140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83"/>
          <p:cNvSpPr/>
          <p:nvPr/>
        </p:nvSpPr>
        <p:spPr>
          <a:xfrm>
            <a:off x="5143245" y="3800668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83"/>
          <p:cNvSpPr/>
          <p:nvPr/>
        </p:nvSpPr>
        <p:spPr>
          <a:xfrm>
            <a:off x="8160903" y="3800730"/>
            <a:ext cx="2560200" cy="73140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83"/>
          <p:cNvSpPr/>
          <p:nvPr/>
        </p:nvSpPr>
        <p:spPr>
          <a:xfrm>
            <a:off x="8160915" y="3800718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bcrypt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83"/>
          <p:cNvSpPr/>
          <p:nvPr/>
        </p:nvSpPr>
        <p:spPr>
          <a:xfrm>
            <a:off x="11297385" y="3800668"/>
            <a:ext cx="2560200" cy="73140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83"/>
          <p:cNvSpPr/>
          <p:nvPr/>
        </p:nvSpPr>
        <p:spPr>
          <a:xfrm>
            <a:off x="11178585" y="3800718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Jinja2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83"/>
          <p:cNvSpPr/>
          <p:nvPr/>
        </p:nvSpPr>
        <p:spPr>
          <a:xfrm>
            <a:off x="14433680" y="3800668"/>
            <a:ext cx="2560200" cy="73140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83"/>
          <p:cNvSpPr/>
          <p:nvPr/>
        </p:nvSpPr>
        <p:spPr>
          <a:xfrm>
            <a:off x="14941575" y="3800725"/>
            <a:ext cx="1544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83"/>
          <p:cNvSpPr/>
          <p:nvPr/>
        </p:nvSpPr>
        <p:spPr>
          <a:xfrm>
            <a:off x="2262775" y="4931275"/>
            <a:ext cx="14063400" cy="10980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9" name="Google Shape;1089;p83"/>
          <p:cNvPicPr preferRelativeResize="0"/>
          <p:nvPr/>
        </p:nvPicPr>
        <p:blipFill rotWithShape="1">
          <a:blip r:embed="rId3">
            <a:alphaModFix/>
          </a:blip>
          <a:srcRect l="2977" t="6004" r="3127" b="5968"/>
          <a:stretch/>
        </p:blipFill>
        <p:spPr>
          <a:xfrm>
            <a:off x="2262763" y="5216248"/>
            <a:ext cx="4815769" cy="499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4588" y="5186246"/>
            <a:ext cx="3988667" cy="499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59325" y="5186247"/>
            <a:ext cx="4566850" cy="484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84"/>
          <p:cNvSpPr/>
          <p:nvPr/>
        </p:nvSpPr>
        <p:spPr>
          <a:xfrm>
            <a:off x="0" y="0"/>
            <a:ext cx="18288000" cy="128016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84"/>
          <p:cNvSpPr/>
          <p:nvPr/>
        </p:nvSpPr>
        <p:spPr>
          <a:xfrm>
            <a:off x="731520" y="0"/>
            <a:ext cx="16824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 System — 전체 구조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84"/>
          <p:cNvSpPr/>
          <p:nvPr/>
        </p:nvSpPr>
        <p:spPr>
          <a:xfrm>
            <a:off x="457200" y="1609344"/>
            <a:ext cx="3145536" cy="7223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84"/>
          <p:cNvSpPr/>
          <p:nvPr/>
        </p:nvSpPr>
        <p:spPr>
          <a:xfrm>
            <a:off x="457200" y="1609344"/>
            <a:ext cx="3145536" cy="585216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84"/>
          <p:cNvSpPr/>
          <p:nvPr/>
        </p:nvSpPr>
        <p:spPr>
          <a:xfrm>
            <a:off x="1572768" y="2414016"/>
            <a:ext cx="914400" cy="91440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84"/>
          <p:cNvSpPr/>
          <p:nvPr/>
        </p:nvSpPr>
        <p:spPr>
          <a:xfrm>
            <a:off x="1572768" y="241401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84"/>
          <p:cNvSpPr/>
          <p:nvPr/>
        </p:nvSpPr>
        <p:spPr>
          <a:xfrm>
            <a:off x="457200" y="3566160"/>
            <a:ext cx="31455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로그인 페이지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84"/>
          <p:cNvSpPr/>
          <p:nvPr/>
        </p:nvSpPr>
        <p:spPr>
          <a:xfrm>
            <a:off x="457200" y="4480560"/>
            <a:ext cx="3145536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이미 로그인 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메인으로 리다이렉트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84"/>
          <p:cNvSpPr/>
          <p:nvPr/>
        </p:nvSpPr>
        <p:spPr>
          <a:xfrm>
            <a:off x="3931920" y="1609344"/>
            <a:ext cx="3145536" cy="7223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84"/>
          <p:cNvSpPr/>
          <p:nvPr/>
        </p:nvSpPr>
        <p:spPr>
          <a:xfrm>
            <a:off x="3931920" y="1609344"/>
            <a:ext cx="3145536" cy="585216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84"/>
          <p:cNvSpPr/>
          <p:nvPr/>
        </p:nvSpPr>
        <p:spPr>
          <a:xfrm>
            <a:off x="5047488" y="2414016"/>
            <a:ext cx="914400" cy="91440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84"/>
          <p:cNvSpPr/>
          <p:nvPr/>
        </p:nvSpPr>
        <p:spPr>
          <a:xfrm>
            <a:off x="5047488" y="241401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84"/>
          <p:cNvSpPr/>
          <p:nvPr/>
        </p:nvSpPr>
        <p:spPr>
          <a:xfrm>
            <a:off x="3931920" y="3566160"/>
            <a:ext cx="31455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로그인 처리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84"/>
          <p:cNvSpPr/>
          <p:nvPr/>
        </p:nvSpPr>
        <p:spPr>
          <a:xfrm>
            <a:off x="3931920" y="4480560"/>
            <a:ext cx="3145536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bcrypt 검증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후 세션 저장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84"/>
          <p:cNvSpPr/>
          <p:nvPr/>
        </p:nvSpPr>
        <p:spPr>
          <a:xfrm>
            <a:off x="7406640" y="1609344"/>
            <a:ext cx="3145536" cy="7223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84"/>
          <p:cNvSpPr/>
          <p:nvPr/>
        </p:nvSpPr>
        <p:spPr>
          <a:xfrm>
            <a:off x="7406640" y="1609344"/>
            <a:ext cx="3145536" cy="585216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84"/>
          <p:cNvSpPr/>
          <p:nvPr/>
        </p:nvSpPr>
        <p:spPr>
          <a:xfrm>
            <a:off x="8522208" y="2414016"/>
            <a:ext cx="914400" cy="914400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84"/>
          <p:cNvSpPr/>
          <p:nvPr/>
        </p:nvSpPr>
        <p:spPr>
          <a:xfrm>
            <a:off x="8522208" y="241401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84"/>
          <p:cNvSpPr/>
          <p:nvPr/>
        </p:nvSpPr>
        <p:spPr>
          <a:xfrm>
            <a:off x="7406640" y="3566160"/>
            <a:ext cx="31455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회원가입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84"/>
          <p:cNvSpPr/>
          <p:nvPr/>
        </p:nvSpPr>
        <p:spPr>
          <a:xfrm>
            <a:off x="7406640" y="4480560"/>
            <a:ext cx="3145536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이메일 인증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2단계 처리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84"/>
          <p:cNvSpPr/>
          <p:nvPr/>
        </p:nvSpPr>
        <p:spPr>
          <a:xfrm>
            <a:off x="10881360" y="1609344"/>
            <a:ext cx="3145536" cy="7223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84"/>
          <p:cNvSpPr/>
          <p:nvPr/>
        </p:nvSpPr>
        <p:spPr>
          <a:xfrm>
            <a:off x="10881360" y="1609344"/>
            <a:ext cx="3145536" cy="585216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84"/>
          <p:cNvSpPr/>
          <p:nvPr/>
        </p:nvSpPr>
        <p:spPr>
          <a:xfrm>
            <a:off x="11996928" y="2414016"/>
            <a:ext cx="914400" cy="914400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84"/>
          <p:cNvSpPr/>
          <p:nvPr/>
        </p:nvSpPr>
        <p:spPr>
          <a:xfrm>
            <a:off x="11996928" y="241401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📧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84"/>
          <p:cNvSpPr/>
          <p:nvPr/>
        </p:nvSpPr>
        <p:spPr>
          <a:xfrm>
            <a:off x="10881360" y="3566160"/>
            <a:ext cx="31455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이메일 발송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84"/>
          <p:cNvSpPr/>
          <p:nvPr/>
        </p:nvSpPr>
        <p:spPr>
          <a:xfrm>
            <a:off x="10881360" y="4480560"/>
            <a:ext cx="3145536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Gmail SMTP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인증번호 발송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84"/>
          <p:cNvSpPr/>
          <p:nvPr/>
        </p:nvSpPr>
        <p:spPr>
          <a:xfrm>
            <a:off x="14356080" y="1609344"/>
            <a:ext cx="3145536" cy="7223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84"/>
          <p:cNvSpPr/>
          <p:nvPr/>
        </p:nvSpPr>
        <p:spPr>
          <a:xfrm>
            <a:off x="14356080" y="1609344"/>
            <a:ext cx="3145536" cy="585216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84"/>
          <p:cNvSpPr/>
          <p:nvPr/>
        </p:nvSpPr>
        <p:spPr>
          <a:xfrm>
            <a:off x="15471648" y="2414016"/>
            <a:ext cx="914400" cy="914400"/>
          </a:xfrm>
          <a:prstGeom prst="rect">
            <a:avLst/>
          </a:prstGeom>
          <a:solidFill>
            <a:srgbClr val="E8EEF7"/>
          </a:solidFill>
          <a:ln w="12700" cap="flat" cmpd="sng">
            <a:solidFill>
              <a:srgbClr val="E8EE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84"/>
          <p:cNvSpPr/>
          <p:nvPr/>
        </p:nvSpPr>
        <p:spPr>
          <a:xfrm>
            <a:off x="15471648" y="241401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🚪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84"/>
          <p:cNvSpPr/>
          <p:nvPr/>
        </p:nvSpPr>
        <p:spPr>
          <a:xfrm>
            <a:off x="14356080" y="3566160"/>
            <a:ext cx="31455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로그아웃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84"/>
          <p:cNvSpPr/>
          <p:nvPr/>
        </p:nvSpPr>
        <p:spPr>
          <a:xfrm>
            <a:off x="14356080" y="4480560"/>
            <a:ext cx="3145536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세션 삭제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로그인 페이지 이동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84"/>
          <p:cNvSpPr/>
          <p:nvPr/>
        </p:nvSpPr>
        <p:spPr>
          <a:xfrm>
            <a:off x="457200" y="9235440"/>
            <a:ext cx="17373600" cy="731520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84"/>
          <p:cNvSpPr/>
          <p:nvPr/>
        </p:nvSpPr>
        <p:spPr>
          <a:xfrm>
            <a:off x="822960" y="9235440"/>
            <a:ext cx="16824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💡  Blueprint 패턴으로 모듈화 — 인증 관련 라우트를 별도 파일(auth.py)로 분리하여 유지보수 용이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1" name="Google Shape;1131;p84"/>
          <p:cNvPicPr preferRelativeResize="0"/>
          <p:nvPr/>
        </p:nvPicPr>
        <p:blipFill rotWithShape="1">
          <a:blip r:embed="rId3">
            <a:alphaModFix/>
          </a:blip>
          <a:srcRect l="2977" t="6004" r="3127" b="5968"/>
          <a:stretch/>
        </p:blipFill>
        <p:spPr>
          <a:xfrm>
            <a:off x="2309275" y="5853850"/>
            <a:ext cx="3145526" cy="3264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6600" y="5853850"/>
            <a:ext cx="2937350" cy="311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85"/>
          <p:cNvSpPr/>
          <p:nvPr/>
        </p:nvSpPr>
        <p:spPr>
          <a:xfrm>
            <a:off x="0" y="0"/>
            <a:ext cx="18288000" cy="128016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85"/>
          <p:cNvSpPr/>
          <p:nvPr/>
        </p:nvSpPr>
        <p:spPr>
          <a:xfrm>
            <a:off x="731520" y="0"/>
            <a:ext cx="16824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회원가입 — register() 핵심 로직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85"/>
          <p:cNvSpPr/>
          <p:nvPr/>
        </p:nvSpPr>
        <p:spPr>
          <a:xfrm>
            <a:off x="457213" y="1554480"/>
            <a:ext cx="4937700" cy="8503800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85"/>
          <p:cNvSpPr/>
          <p:nvPr/>
        </p:nvSpPr>
        <p:spPr>
          <a:xfrm>
            <a:off x="731520" y="1737360"/>
            <a:ext cx="438912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처리 흐름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85"/>
          <p:cNvSpPr/>
          <p:nvPr/>
        </p:nvSpPr>
        <p:spPr>
          <a:xfrm>
            <a:off x="731520" y="2779776"/>
            <a:ext cx="1316736" cy="69494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85"/>
          <p:cNvSpPr/>
          <p:nvPr/>
        </p:nvSpPr>
        <p:spPr>
          <a:xfrm>
            <a:off x="731520" y="2779776"/>
            <a:ext cx="1316736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1단계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85"/>
          <p:cNvSpPr/>
          <p:nvPr/>
        </p:nvSpPr>
        <p:spPr>
          <a:xfrm>
            <a:off x="2194560" y="2779776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email / pw / nickname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폼 데이터 수신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85"/>
          <p:cNvSpPr/>
          <p:nvPr/>
        </p:nvSpPr>
        <p:spPr>
          <a:xfrm>
            <a:off x="1188720" y="3694176"/>
            <a:ext cx="54864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85"/>
          <p:cNvSpPr/>
          <p:nvPr/>
        </p:nvSpPr>
        <p:spPr>
          <a:xfrm>
            <a:off x="731520" y="4517136"/>
            <a:ext cx="1316736" cy="694944"/>
          </a:xfrm>
          <a:prstGeom prst="rect">
            <a:avLst/>
          </a:prstGeom>
          <a:solidFill>
            <a:srgbClr val="6B7280"/>
          </a:solidFill>
          <a:ln w="1270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85"/>
          <p:cNvSpPr/>
          <p:nvPr/>
        </p:nvSpPr>
        <p:spPr>
          <a:xfrm>
            <a:off x="731520" y="4517136"/>
            <a:ext cx="1316736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중복확인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85"/>
          <p:cNvSpPr/>
          <p:nvPr/>
        </p:nvSpPr>
        <p:spPr>
          <a:xfrm>
            <a:off x="2194560" y="4517136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DB에서 이메일·닉네임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중복 여부 체크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85"/>
          <p:cNvSpPr/>
          <p:nvPr/>
        </p:nvSpPr>
        <p:spPr>
          <a:xfrm>
            <a:off x="1188720" y="5431536"/>
            <a:ext cx="54864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85"/>
          <p:cNvSpPr/>
          <p:nvPr/>
        </p:nvSpPr>
        <p:spPr>
          <a:xfrm>
            <a:off x="731520" y="6254496"/>
            <a:ext cx="1316736" cy="694944"/>
          </a:xfrm>
          <a:prstGeom prst="rect">
            <a:avLst/>
          </a:prstGeom>
          <a:solidFill>
            <a:srgbClr val="6B7280"/>
          </a:solidFill>
          <a:ln w="1270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85"/>
          <p:cNvSpPr/>
          <p:nvPr/>
        </p:nvSpPr>
        <p:spPr>
          <a:xfrm>
            <a:off x="731520" y="6254496"/>
            <a:ext cx="1316736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발송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85"/>
          <p:cNvSpPr/>
          <p:nvPr/>
        </p:nvSpPr>
        <p:spPr>
          <a:xfrm>
            <a:off x="2194560" y="6254496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6자리 코드 생성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Gmail SMTP 발송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85"/>
          <p:cNvSpPr/>
          <p:nvPr/>
        </p:nvSpPr>
        <p:spPr>
          <a:xfrm>
            <a:off x="1188720" y="7168896"/>
            <a:ext cx="54864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85"/>
          <p:cNvSpPr/>
          <p:nvPr/>
        </p:nvSpPr>
        <p:spPr>
          <a:xfrm>
            <a:off x="731520" y="7991856"/>
            <a:ext cx="1316736" cy="694944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85"/>
          <p:cNvSpPr/>
          <p:nvPr/>
        </p:nvSpPr>
        <p:spPr>
          <a:xfrm>
            <a:off x="731520" y="7991856"/>
            <a:ext cx="1316736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2단계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85"/>
          <p:cNvSpPr/>
          <p:nvPr/>
        </p:nvSpPr>
        <p:spPr>
          <a:xfrm>
            <a:off x="2194560" y="7991856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인증번호 5분 유효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검증 후 DB INSERT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85"/>
          <p:cNvSpPr/>
          <p:nvPr/>
        </p:nvSpPr>
        <p:spPr>
          <a:xfrm>
            <a:off x="5669276" y="1554475"/>
            <a:ext cx="9231300" cy="34746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85"/>
          <p:cNvSpPr/>
          <p:nvPr/>
        </p:nvSpPr>
        <p:spPr>
          <a:xfrm>
            <a:off x="5669276" y="1554475"/>
            <a:ext cx="9231300" cy="5487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85"/>
          <p:cNvSpPr/>
          <p:nvPr/>
        </p:nvSpPr>
        <p:spPr>
          <a:xfrm>
            <a:off x="5669280" y="1554480"/>
            <a:ext cx="128016" cy="347472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85"/>
          <p:cNvSpPr/>
          <p:nvPr/>
        </p:nvSpPr>
        <p:spPr>
          <a:xfrm>
            <a:off x="5998472" y="1554475"/>
            <a:ext cx="8902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auth.py — 1단계: 폼 데이터 수신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85"/>
          <p:cNvSpPr/>
          <p:nvPr/>
        </p:nvSpPr>
        <p:spPr>
          <a:xfrm>
            <a:off x="6035040" y="2194560"/>
            <a:ext cx="11649456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@auth_bp.route("/register", methods=["POST"])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85"/>
          <p:cNvSpPr/>
          <p:nvPr/>
        </p:nvSpPr>
        <p:spPr>
          <a:xfrm>
            <a:off x="6035040" y="2657856"/>
            <a:ext cx="11649456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def register():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85"/>
          <p:cNvSpPr/>
          <p:nvPr/>
        </p:nvSpPr>
        <p:spPr>
          <a:xfrm>
            <a:off x="6071640" y="3087615"/>
            <a:ext cx="116496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email    = request.form["email"]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85"/>
          <p:cNvSpPr/>
          <p:nvPr/>
        </p:nvSpPr>
        <p:spPr>
          <a:xfrm>
            <a:off x="6035040" y="3584448"/>
            <a:ext cx="11649456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password = request.form["password"]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85"/>
          <p:cNvSpPr/>
          <p:nvPr/>
        </p:nvSpPr>
        <p:spPr>
          <a:xfrm>
            <a:off x="6071640" y="3980682"/>
            <a:ext cx="116496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nickname = request.form["nickname"]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85"/>
          <p:cNvSpPr/>
          <p:nvPr/>
        </p:nvSpPr>
        <p:spPr>
          <a:xfrm>
            <a:off x="6071640" y="4443990"/>
            <a:ext cx="116496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  code     = request.form.get("code")  # 인증번호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85"/>
          <p:cNvSpPr/>
          <p:nvPr/>
        </p:nvSpPr>
        <p:spPr>
          <a:xfrm>
            <a:off x="5669276" y="5303525"/>
            <a:ext cx="9231300" cy="47550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85"/>
          <p:cNvSpPr/>
          <p:nvPr/>
        </p:nvSpPr>
        <p:spPr>
          <a:xfrm>
            <a:off x="5669276" y="5303525"/>
            <a:ext cx="9231300" cy="5487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85"/>
          <p:cNvSpPr/>
          <p:nvPr/>
        </p:nvSpPr>
        <p:spPr>
          <a:xfrm>
            <a:off x="5669280" y="5303520"/>
            <a:ext cx="128016" cy="475488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85"/>
          <p:cNvSpPr/>
          <p:nvPr/>
        </p:nvSpPr>
        <p:spPr>
          <a:xfrm>
            <a:off x="5998472" y="5303524"/>
            <a:ext cx="89022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auth.py — 2단계: 인증번호 검증 &amp; DB 저장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85"/>
          <p:cNvSpPr/>
          <p:nvPr/>
        </p:nvSpPr>
        <p:spPr>
          <a:xfrm>
            <a:off x="6035040" y="5943600"/>
            <a:ext cx="11649456" cy="50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    if code: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85"/>
          <p:cNvSpPr/>
          <p:nvPr/>
        </p:nvSpPr>
        <p:spPr>
          <a:xfrm>
            <a:off x="6035040" y="6451092"/>
            <a:ext cx="11649456" cy="50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    data = verification_codes.get(email)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85"/>
          <p:cNvSpPr/>
          <p:nvPr/>
        </p:nvSpPr>
        <p:spPr>
          <a:xfrm>
            <a:off x="6035040" y="6958584"/>
            <a:ext cx="11649456" cy="50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time.time() - data["time"] &gt; 300: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85"/>
          <p:cNvSpPr/>
          <p:nvPr/>
        </p:nvSpPr>
        <p:spPr>
          <a:xfrm>
            <a:off x="6035040" y="7466076"/>
            <a:ext cx="11649456" cy="50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render_template(..., error="만료")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85"/>
          <p:cNvSpPr/>
          <p:nvPr/>
        </p:nvSpPr>
        <p:spPr>
          <a:xfrm>
            <a:off x="6035040" y="7973568"/>
            <a:ext cx="11649456" cy="50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data["code"] == code:  # 번호 일치!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85"/>
          <p:cNvSpPr/>
          <p:nvPr/>
        </p:nvSpPr>
        <p:spPr>
          <a:xfrm>
            <a:off x="6035040" y="8481060"/>
            <a:ext cx="11649456" cy="50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E3A5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hashed = bcrypt.hashpw(pw, bcrypt.gensalt())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85"/>
          <p:cNvSpPr/>
          <p:nvPr/>
        </p:nvSpPr>
        <p:spPr>
          <a:xfrm>
            <a:off x="6035040" y="8988552"/>
            <a:ext cx="11649456" cy="50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E3A5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cursor.execute("INSERT INTO users ...")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85"/>
          <p:cNvSpPr/>
          <p:nvPr/>
        </p:nvSpPr>
        <p:spPr>
          <a:xfrm>
            <a:off x="6035040" y="9496044"/>
            <a:ext cx="11649456" cy="50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del verification_codes[email]  # 코드 삭제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9" name="Google Shape;117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4925" y="2137250"/>
            <a:ext cx="2880375" cy="29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86"/>
          <p:cNvSpPr/>
          <p:nvPr/>
        </p:nvSpPr>
        <p:spPr>
          <a:xfrm>
            <a:off x="0" y="0"/>
            <a:ext cx="18288000" cy="128016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86"/>
          <p:cNvSpPr/>
          <p:nvPr/>
        </p:nvSpPr>
        <p:spPr>
          <a:xfrm>
            <a:off x="731520" y="0"/>
            <a:ext cx="16824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보안 — bcrypt 비밀번호 암호화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86"/>
          <p:cNvSpPr/>
          <p:nvPr/>
        </p:nvSpPr>
        <p:spPr>
          <a:xfrm>
            <a:off x="457200" y="1554480"/>
            <a:ext cx="8412480" cy="8503920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86"/>
          <p:cNvSpPr/>
          <p:nvPr/>
        </p:nvSpPr>
        <p:spPr>
          <a:xfrm>
            <a:off x="822960" y="1792224"/>
            <a:ext cx="7680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왜 bcrypt 인가?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86"/>
          <p:cNvSpPr/>
          <p:nvPr/>
        </p:nvSpPr>
        <p:spPr>
          <a:xfrm>
            <a:off x="731520" y="2926080"/>
            <a:ext cx="950976" cy="950976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86"/>
          <p:cNvSpPr/>
          <p:nvPr/>
        </p:nvSpPr>
        <p:spPr>
          <a:xfrm>
            <a:off x="731520" y="2926080"/>
            <a:ext cx="950976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86"/>
          <p:cNvSpPr/>
          <p:nvPr/>
        </p:nvSpPr>
        <p:spPr>
          <a:xfrm>
            <a:off x="1920240" y="2926080"/>
            <a:ext cx="65836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단방향 해싱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86"/>
          <p:cNvSpPr/>
          <p:nvPr/>
        </p:nvSpPr>
        <p:spPr>
          <a:xfrm>
            <a:off x="1920240" y="3621024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복호화 불가능 — 원문 비밀번호를 알 수 없음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86"/>
          <p:cNvSpPr/>
          <p:nvPr/>
        </p:nvSpPr>
        <p:spPr>
          <a:xfrm>
            <a:off x="731520" y="4937760"/>
            <a:ext cx="950976" cy="950976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86"/>
          <p:cNvSpPr/>
          <p:nvPr/>
        </p:nvSpPr>
        <p:spPr>
          <a:xfrm>
            <a:off x="731520" y="4937760"/>
            <a:ext cx="950976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86"/>
          <p:cNvSpPr/>
          <p:nvPr/>
        </p:nvSpPr>
        <p:spPr>
          <a:xfrm>
            <a:off x="1920240" y="4937760"/>
            <a:ext cx="65836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자동 솔트 (Salt)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86"/>
          <p:cNvSpPr/>
          <p:nvPr/>
        </p:nvSpPr>
        <p:spPr>
          <a:xfrm>
            <a:off x="1920240" y="5632704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같은 비밀번호도 매번 다른 해시값 생성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86"/>
          <p:cNvSpPr/>
          <p:nvPr/>
        </p:nvSpPr>
        <p:spPr>
          <a:xfrm>
            <a:off x="731520" y="6949440"/>
            <a:ext cx="950976" cy="950976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86"/>
          <p:cNvSpPr/>
          <p:nvPr/>
        </p:nvSpPr>
        <p:spPr>
          <a:xfrm>
            <a:off x="731520" y="6949440"/>
            <a:ext cx="950976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86"/>
          <p:cNvSpPr/>
          <p:nvPr/>
        </p:nvSpPr>
        <p:spPr>
          <a:xfrm>
            <a:off x="1920240" y="6949440"/>
            <a:ext cx="65836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의도적으로 느린 속도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86"/>
          <p:cNvSpPr/>
          <p:nvPr/>
        </p:nvSpPr>
        <p:spPr>
          <a:xfrm>
            <a:off x="1920240" y="7644384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브루트포스 공격에 강함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86"/>
          <p:cNvSpPr/>
          <p:nvPr/>
        </p:nvSpPr>
        <p:spPr>
          <a:xfrm>
            <a:off x="9326880" y="1554480"/>
            <a:ext cx="8503920" cy="850392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86"/>
          <p:cNvSpPr/>
          <p:nvPr/>
        </p:nvSpPr>
        <p:spPr>
          <a:xfrm>
            <a:off x="9326880" y="1554480"/>
            <a:ext cx="8503920" cy="54864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86"/>
          <p:cNvSpPr/>
          <p:nvPr/>
        </p:nvSpPr>
        <p:spPr>
          <a:xfrm>
            <a:off x="9326880" y="1554480"/>
            <a:ext cx="128016" cy="850392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86"/>
          <p:cNvSpPr/>
          <p:nvPr/>
        </p:nvSpPr>
        <p:spPr>
          <a:xfrm>
            <a:off x="9656064" y="15544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bcrypt 코드 예시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86"/>
          <p:cNvSpPr/>
          <p:nvPr/>
        </p:nvSpPr>
        <p:spPr>
          <a:xfrm>
            <a:off x="9692640" y="2194560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회원가입 시 비밀번호 해싱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86"/>
          <p:cNvSpPr/>
          <p:nvPr/>
        </p:nvSpPr>
        <p:spPr>
          <a:xfrm>
            <a:off x="9692640" y="2752344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hashed = bcrypt.hashpw(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86"/>
          <p:cNvSpPr/>
          <p:nvPr/>
        </p:nvSpPr>
        <p:spPr>
          <a:xfrm>
            <a:off x="9692640" y="3310128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   password.encode('utf-8'),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86"/>
          <p:cNvSpPr/>
          <p:nvPr/>
        </p:nvSpPr>
        <p:spPr>
          <a:xfrm>
            <a:off x="9692640" y="3867912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   bcrypt.gensalt()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86"/>
          <p:cNvSpPr/>
          <p:nvPr/>
        </p:nvSpPr>
        <p:spPr>
          <a:xfrm>
            <a:off x="9692640" y="4425696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).decode("utf-8")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86"/>
          <p:cNvSpPr/>
          <p:nvPr/>
        </p:nvSpPr>
        <p:spPr>
          <a:xfrm>
            <a:off x="9692640" y="4983480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86"/>
          <p:cNvSpPr/>
          <p:nvPr/>
        </p:nvSpPr>
        <p:spPr>
          <a:xfrm>
            <a:off x="9692640" y="5541264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로그인 시 비밀번호 검증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86"/>
          <p:cNvSpPr/>
          <p:nvPr/>
        </p:nvSpPr>
        <p:spPr>
          <a:xfrm>
            <a:off x="9692640" y="6099048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is_valid = bcrypt.checkpw(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86"/>
          <p:cNvSpPr/>
          <p:nvPr/>
        </p:nvSpPr>
        <p:spPr>
          <a:xfrm>
            <a:off x="9692640" y="6656832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   password.encode('utf-8'),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86"/>
          <p:cNvSpPr/>
          <p:nvPr/>
        </p:nvSpPr>
        <p:spPr>
          <a:xfrm>
            <a:off x="9692640" y="7214616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user['password_hash'].encode('utf-8')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86"/>
          <p:cNvSpPr/>
          <p:nvPr/>
        </p:nvSpPr>
        <p:spPr>
          <a:xfrm>
            <a:off x="9692640" y="7772400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86"/>
          <p:cNvSpPr/>
          <p:nvPr/>
        </p:nvSpPr>
        <p:spPr>
          <a:xfrm>
            <a:off x="9692640" y="8330184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86"/>
          <p:cNvSpPr/>
          <p:nvPr/>
        </p:nvSpPr>
        <p:spPr>
          <a:xfrm>
            <a:off x="9692640" y="8887968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결과 예시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86"/>
          <p:cNvSpPr/>
          <p:nvPr/>
        </p:nvSpPr>
        <p:spPr>
          <a:xfrm>
            <a:off x="9692640" y="9445752"/>
            <a:ext cx="7991856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"1234"  -&gt;  "$2b$12$xK9Lm..."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87"/>
          <p:cNvSpPr/>
          <p:nvPr/>
        </p:nvSpPr>
        <p:spPr>
          <a:xfrm>
            <a:off x="0" y="0"/>
            <a:ext cx="18288000" cy="128016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87"/>
          <p:cNvSpPr/>
          <p:nvPr/>
        </p:nvSpPr>
        <p:spPr>
          <a:xfrm>
            <a:off x="731520" y="0"/>
            <a:ext cx="16824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로그인 처리 &amp; 세션 저장 코드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87"/>
          <p:cNvSpPr/>
          <p:nvPr/>
        </p:nvSpPr>
        <p:spPr>
          <a:xfrm>
            <a:off x="457200" y="1554480"/>
            <a:ext cx="3108960" cy="173736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87"/>
          <p:cNvSpPr/>
          <p:nvPr/>
        </p:nvSpPr>
        <p:spPr>
          <a:xfrm>
            <a:off x="457200" y="155448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이메일+비번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입력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87"/>
          <p:cNvSpPr/>
          <p:nvPr/>
        </p:nvSpPr>
        <p:spPr>
          <a:xfrm>
            <a:off x="3584448" y="2011680"/>
            <a:ext cx="3108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000"/>
              <a:buFont typeface="Calibri"/>
              <a:buNone/>
            </a:pPr>
            <a:r>
              <a:rPr lang="en-US" sz="3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87"/>
          <p:cNvSpPr/>
          <p:nvPr/>
        </p:nvSpPr>
        <p:spPr>
          <a:xfrm>
            <a:off x="3895344" y="1554480"/>
            <a:ext cx="3108960" cy="173736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87"/>
          <p:cNvSpPr/>
          <p:nvPr/>
        </p:nvSpPr>
        <p:spPr>
          <a:xfrm>
            <a:off x="3895344" y="155448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DB 사용자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조회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87"/>
          <p:cNvSpPr/>
          <p:nvPr/>
        </p:nvSpPr>
        <p:spPr>
          <a:xfrm>
            <a:off x="7022592" y="2011680"/>
            <a:ext cx="3108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000"/>
              <a:buFont typeface="Calibri"/>
              <a:buNone/>
            </a:pPr>
            <a:r>
              <a:rPr lang="en-US" sz="3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87"/>
          <p:cNvSpPr/>
          <p:nvPr/>
        </p:nvSpPr>
        <p:spPr>
          <a:xfrm>
            <a:off x="7333488" y="1554480"/>
            <a:ext cx="3108960" cy="173736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87"/>
          <p:cNvSpPr/>
          <p:nvPr/>
        </p:nvSpPr>
        <p:spPr>
          <a:xfrm>
            <a:off x="7333488" y="155448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bcrypt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87"/>
          <p:cNvSpPr/>
          <p:nvPr/>
        </p:nvSpPr>
        <p:spPr>
          <a:xfrm>
            <a:off x="10460736" y="2011680"/>
            <a:ext cx="3108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000"/>
              <a:buFont typeface="Calibri"/>
              <a:buNone/>
            </a:pPr>
            <a:r>
              <a:rPr lang="en-US" sz="3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87"/>
          <p:cNvSpPr/>
          <p:nvPr/>
        </p:nvSpPr>
        <p:spPr>
          <a:xfrm>
            <a:off x="10771632" y="1554480"/>
            <a:ext cx="3108960" cy="1737360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87"/>
          <p:cNvSpPr/>
          <p:nvPr/>
        </p:nvSpPr>
        <p:spPr>
          <a:xfrm>
            <a:off x="10771632" y="155448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세션에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저장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87"/>
          <p:cNvSpPr/>
          <p:nvPr/>
        </p:nvSpPr>
        <p:spPr>
          <a:xfrm>
            <a:off x="13898880" y="2011680"/>
            <a:ext cx="3108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3000"/>
              <a:buFont typeface="Calibri"/>
              <a:buNone/>
            </a:pPr>
            <a:r>
              <a:rPr lang="en-US" sz="30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87"/>
          <p:cNvSpPr/>
          <p:nvPr/>
        </p:nvSpPr>
        <p:spPr>
          <a:xfrm>
            <a:off x="14209776" y="1554480"/>
            <a:ext cx="3108960" cy="1737360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87"/>
          <p:cNvSpPr/>
          <p:nvPr/>
        </p:nvSpPr>
        <p:spPr>
          <a:xfrm>
            <a:off x="14209776" y="155448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메인으로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이동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87"/>
          <p:cNvSpPr/>
          <p:nvPr/>
        </p:nvSpPr>
        <p:spPr>
          <a:xfrm>
            <a:off x="2651760" y="3566160"/>
            <a:ext cx="4754880" cy="877824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87"/>
          <p:cNvSpPr/>
          <p:nvPr/>
        </p:nvSpPr>
        <p:spPr>
          <a:xfrm>
            <a:off x="2651760" y="3566160"/>
            <a:ext cx="475488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❌  불일치 → 에러 메시지 반환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87"/>
          <p:cNvSpPr/>
          <p:nvPr/>
        </p:nvSpPr>
        <p:spPr>
          <a:xfrm>
            <a:off x="457200" y="4754880"/>
            <a:ext cx="17373600" cy="515721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87"/>
          <p:cNvSpPr/>
          <p:nvPr/>
        </p:nvSpPr>
        <p:spPr>
          <a:xfrm>
            <a:off x="457200" y="4754880"/>
            <a:ext cx="17373600" cy="54864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87"/>
          <p:cNvSpPr/>
          <p:nvPr/>
        </p:nvSpPr>
        <p:spPr>
          <a:xfrm>
            <a:off x="457200" y="4754880"/>
            <a:ext cx="128016" cy="5157216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87"/>
          <p:cNvSpPr/>
          <p:nvPr/>
        </p:nvSpPr>
        <p:spPr>
          <a:xfrm>
            <a:off x="786384" y="4754880"/>
            <a:ext cx="1691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auth.py — login()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87"/>
          <p:cNvSpPr/>
          <p:nvPr/>
        </p:nvSpPr>
        <p:spPr>
          <a:xfrm>
            <a:off x="822960" y="5394960"/>
            <a:ext cx="16861536" cy="4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@auth_bp.route("/login", methods=["POST"])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87"/>
          <p:cNvSpPr/>
          <p:nvPr/>
        </p:nvSpPr>
        <p:spPr>
          <a:xfrm>
            <a:off x="822960" y="5800622"/>
            <a:ext cx="16861536" cy="4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def login():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87"/>
          <p:cNvSpPr/>
          <p:nvPr/>
        </p:nvSpPr>
        <p:spPr>
          <a:xfrm>
            <a:off x="822960" y="6206282"/>
            <a:ext cx="16861536" cy="4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email    = request.form["email"]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87"/>
          <p:cNvSpPr/>
          <p:nvPr/>
        </p:nvSpPr>
        <p:spPr>
          <a:xfrm>
            <a:off x="822960" y="6611944"/>
            <a:ext cx="16861536" cy="4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password = request.form["password"]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87"/>
          <p:cNvSpPr/>
          <p:nvPr/>
        </p:nvSpPr>
        <p:spPr>
          <a:xfrm>
            <a:off x="822960" y="7017604"/>
            <a:ext cx="16861536" cy="4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   cursor.execute("SELECT * FROM users WHERE email = %s", (email,))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87"/>
          <p:cNvSpPr/>
          <p:nvPr/>
        </p:nvSpPr>
        <p:spPr>
          <a:xfrm>
            <a:off x="822960" y="7423266"/>
            <a:ext cx="16861536" cy="4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user = cursor.fetchone()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87"/>
          <p:cNvSpPr/>
          <p:nvPr/>
        </p:nvSpPr>
        <p:spPr>
          <a:xfrm>
            <a:off x="822960" y="7828926"/>
            <a:ext cx="16861536" cy="4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    if user and bcrypt.checkpw(password.encode(), hash.encode()):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87"/>
          <p:cNvSpPr/>
          <p:nvPr/>
        </p:nvSpPr>
        <p:spPr>
          <a:xfrm>
            <a:off x="822960" y="8234588"/>
            <a:ext cx="16861536" cy="4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    session["user_id"]  = user["id"]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87"/>
          <p:cNvSpPr/>
          <p:nvPr/>
        </p:nvSpPr>
        <p:spPr>
          <a:xfrm>
            <a:off x="822960" y="8640248"/>
            <a:ext cx="16861536" cy="4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    session["nickname"] = user["nickname"]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87"/>
          <p:cNvSpPr/>
          <p:nvPr/>
        </p:nvSpPr>
        <p:spPr>
          <a:xfrm>
            <a:off x="822960" y="9045910"/>
            <a:ext cx="16861536" cy="4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redirect(url_for("index"))  # 메인 이동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87"/>
          <p:cNvSpPr/>
          <p:nvPr/>
        </p:nvSpPr>
        <p:spPr>
          <a:xfrm>
            <a:off x="822960" y="9451570"/>
            <a:ext cx="16861536" cy="4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render_template("index_login.html", error="불일치")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7" name="Google Shape;125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3675" y="3657595"/>
            <a:ext cx="4118279" cy="73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81950" y="3706050"/>
            <a:ext cx="4118275" cy="634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88"/>
          <p:cNvSpPr/>
          <p:nvPr/>
        </p:nvSpPr>
        <p:spPr>
          <a:xfrm>
            <a:off x="0" y="0"/>
            <a:ext cx="18288000" cy="128016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88"/>
          <p:cNvSpPr/>
          <p:nvPr/>
        </p:nvSpPr>
        <p:spPr>
          <a:xfrm>
            <a:off x="731520" y="0"/>
            <a:ext cx="16824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구현 요약 &amp; 개선 포인트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88"/>
          <p:cNvSpPr/>
          <p:nvPr/>
        </p:nvSpPr>
        <p:spPr>
          <a:xfrm>
            <a:off x="457200" y="1554480"/>
            <a:ext cx="8321040" cy="8503920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88"/>
          <p:cNvSpPr/>
          <p:nvPr/>
        </p:nvSpPr>
        <p:spPr>
          <a:xfrm>
            <a:off x="457200" y="1554480"/>
            <a:ext cx="8321040" cy="731520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88"/>
          <p:cNvSpPr/>
          <p:nvPr/>
        </p:nvSpPr>
        <p:spPr>
          <a:xfrm>
            <a:off x="640080" y="1554480"/>
            <a:ext cx="7955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구현 완료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88"/>
          <p:cNvSpPr/>
          <p:nvPr/>
        </p:nvSpPr>
        <p:spPr>
          <a:xfrm>
            <a:off x="822960" y="2596896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Blueprint 로 코드 모듈화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88"/>
          <p:cNvSpPr/>
          <p:nvPr/>
        </p:nvSpPr>
        <p:spPr>
          <a:xfrm>
            <a:off x="822960" y="3694176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bcrypt 단방향 해싱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88"/>
          <p:cNvSpPr/>
          <p:nvPr/>
        </p:nvSpPr>
        <p:spPr>
          <a:xfrm>
            <a:off x="822960" y="4791456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이메일 2단계 인증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88"/>
          <p:cNvSpPr/>
          <p:nvPr/>
        </p:nvSpPr>
        <p:spPr>
          <a:xfrm>
            <a:off x="822960" y="5888736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세션 기반 로그인 유지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88"/>
          <p:cNvSpPr/>
          <p:nvPr/>
        </p:nvSpPr>
        <p:spPr>
          <a:xfrm>
            <a:off x="822960" y="6986016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신규 회원 모의계좌 자동 생성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88"/>
          <p:cNvSpPr/>
          <p:nvPr/>
        </p:nvSpPr>
        <p:spPr>
          <a:xfrm>
            <a:off x="9509760" y="1554480"/>
            <a:ext cx="8321040" cy="8503920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88"/>
          <p:cNvSpPr/>
          <p:nvPr/>
        </p:nvSpPr>
        <p:spPr>
          <a:xfrm>
            <a:off x="9509760" y="1554480"/>
            <a:ext cx="8321040" cy="7315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88"/>
          <p:cNvSpPr/>
          <p:nvPr/>
        </p:nvSpPr>
        <p:spPr>
          <a:xfrm>
            <a:off x="9692640" y="1554480"/>
            <a:ext cx="7955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🔧  개선 가능 포인트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88"/>
          <p:cNvSpPr/>
          <p:nvPr/>
        </p:nvSpPr>
        <p:spPr>
          <a:xfrm>
            <a:off x="11978640" y="2596896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88"/>
          <p:cNvSpPr/>
          <p:nvPr/>
        </p:nvSpPr>
        <p:spPr>
          <a:xfrm>
            <a:off x="9784080" y="3968496"/>
            <a:ext cx="201168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88"/>
          <p:cNvSpPr/>
          <p:nvPr/>
        </p:nvSpPr>
        <p:spPr>
          <a:xfrm>
            <a:off x="9784080" y="3968496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Courier New"/>
              <a:buNone/>
            </a:pPr>
            <a:r>
              <a:rPr lang="en-US" sz="2000" b="1">
                <a:solidFill>
                  <a:srgbClr val="D97706"/>
                </a:solidFill>
                <a:latin typeface="Courier New"/>
                <a:ea typeface="Courier New"/>
                <a:cs typeface="Courier New"/>
                <a:sym typeface="Courier New"/>
              </a:rPr>
              <a:t>Rate Limit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88"/>
          <p:cNvSpPr/>
          <p:nvPr/>
        </p:nvSpPr>
        <p:spPr>
          <a:xfrm>
            <a:off x="11978640" y="3968496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과도한 로그인 시도 차단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88"/>
          <p:cNvSpPr/>
          <p:nvPr/>
        </p:nvSpPr>
        <p:spPr>
          <a:xfrm>
            <a:off x="9784080" y="5340096"/>
            <a:ext cx="201168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88"/>
          <p:cNvSpPr/>
          <p:nvPr/>
        </p:nvSpPr>
        <p:spPr>
          <a:xfrm>
            <a:off x="9784080" y="5340096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Courier New"/>
              <a:buNone/>
            </a:pPr>
            <a:r>
              <a:rPr lang="en-US" sz="2000" b="1">
                <a:solidFill>
                  <a:srgbClr val="D97706"/>
                </a:solidFill>
                <a:latin typeface="Courier New"/>
                <a:ea typeface="Courier New"/>
                <a:cs typeface="Courier New"/>
                <a:sym typeface="Courier New"/>
              </a:rPr>
              <a:t>JWT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88"/>
          <p:cNvSpPr/>
          <p:nvPr/>
        </p:nvSpPr>
        <p:spPr>
          <a:xfrm>
            <a:off x="11978640" y="5340096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토큰 기반 인증 전환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88"/>
          <p:cNvSpPr/>
          <p:nvPr/>
        </p:nvSpPr>
        <p:spPr>
          <a:xfrm>
            <a:off x="9784080" y="6711696"/>
            <a:ext cx="201168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88"/>
          <p:cNvSpPr/>
          <p:nvPr/>
        </p:nvSpPr>
        <p:spPr>
          <a:xfrm>
            <a:off x="9784080" y="6711696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Courier New"/>
              <a:buNone/>
            </a:pPr>
            <a:r>
              <a:rPr lang="en-US" sz="2000" b="1">
                <a:solidFill>
                  <a:srgbClr val="D97706"/>
                </a:solidFill>
                <a:latin typeface="Courier New"/>
                <a:ea typeface="Courier New"/>
                <a:cs typeface="Courier New"/>
                <a:sym typeface="Courier New"/>
              </a:rPr>
              <a:t>OAuth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88"/>
          <p:cNvSpPr/>
          <p:nvPr/>
        </p:nvSpPr>
        <p:spPr>
          <a:xfrm>
            <a:off x="11978640" y="6711696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소셜 로그인 연동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89"/>
          <p:cNvSpPr/>
          <p:nvPr/>
        </p:nvSpPr>
        <p:spPr>
          <a:xfrm>
            <a:off x="0" y="0"/>
            <a:ext cx="18288000" cy="128016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89"/>
          <p:cNvSpPr/>
          <p:nvPr/>
        </p:nvSpPr>
        <p:spPr>
          <a:xfrm>
            <a:off x="731520" y="0"/>
            <a:ext cx="16824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Profile — 마이페이지 전체 기능 개요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89"/>
          <p:cNvSpPr/>
          <p:nvPr/>
        </p:nvSpPr>
        <p:spPr>
          <a:xfrm>
            <a:off x="548640" y="1554480"/>
            <a:ext cx="1719072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profile_bp Blueprint — 로그인한 사용자의 계정 정보를 조회·수정하는 6가지 기능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89"/>
          <p:cNvSpPr/>
          <p:nvPr/>
        </p:nvSpPr>
        <p:spPr>
          <a:xfrm>
            <a:off x="457200" y="2468880"/>
            <a:ext cx="548640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89"/>
          <p:cNvSpPr/>
          <p:nvPr/>
        </p:nvSpPr>
        <p:spPr>
          <a:xfrm>
            <a:off x="457200" y="2468880"/>
            <a:ext cx="5486400" cy="585216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89"/>
          <p:cNvSpPr/>
          <p:nvPr/>
        </p:nvSpPr>
        <p:spPr>
          <a:xfrm>
            <a:off x="4809744" y="3236976"/>
            <a:ext cx="914400" cy="438912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89"/>
          <p:cNvSpPr/>
          <p:nvPr/>
        </p:nvSpPr>
        <p:spPr>
          <a:xfrm>
            <a:off x="4809744" y="3236976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89"/>
          <p:cNvSpPr/>
          <p:nvPr/>
        </p:nvSpPr>
        <p:spPr>
          <a:xfrm>
            <a:off x="676656" y="2468880"/>
            <a:ext cx="40233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프로필 조회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89"/>
          <p:cNvSpPr/>
          <p:nvPr/>
        </p:nvSpPr>
        <p:spPr>
          <a:xfrm>
            <a:off x="676656" y="3236976"/>
            <a:ext cx="40233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Courier New"/>
              <a:buNone/>
            </a:pPr>
            <a:r>
              <a:rPr lang="en-US" sz="17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/profile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89"/>
          <p:cNvSpPr/>
          <p:nvPr/>
        </p:nvSpPr>
        <p:spPr>
          <a:xfrm>
            <a:off x="676656" y="3840480"/>
            <a:ext cx="51206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세션 확인 후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DB에서 유저 정보 조회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89"/>
          <p:cNvSpPr/>
          <p:nvPr/>
        </p:nvSpPr>
        <p:spPr>
          <a:xfrm>
            <a:off x="6345936" y="2468880"/>
            <a:ext cx="548640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89"/>
          <p:cNvSpPr/>
          <p:nvPr/>
        </p:nvSpPr>
        <p:spPr>
          <a:xfrm>
            <a:off x="6345936" y="2468880"/>
            <a:ext cx="5486400" cy="585216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89"/>
          <p:cNvSpPr/>
          <p:nvPr/>
        </p:nvSpPr>
        <p:spPr>
          <a:xfrm>
            <a:off x="10698480" y="3236976"/>
            <a:ext cx="914400" cy="438912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89"/>
          <p:cNvSpPr/>
          <p:nvPr/>
        </p:nvSpPr>
        <p:spPr>
          <a:xfrm>
            <a:off x="10698480" y="3236976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AJAX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89"/>
          <p:cNvSpPr/>
          <p:nvPr/>
        </p:nvSpPr>
        <p:spPr>
          <a:xfrm>
            <a:off x="6565392" y="2468880"/>
            <a:ext cx="40233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아바타 변경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89"/>
          <p:cNvSpPr/>
          <p:nvPr/>
        </p:nvSpPr>
        <p:spPr>
          <a:xfrm>
            <a:off x="6565392" y="3236976"/>
            <a:ext cx="40233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Courier New"/>
              <a:buNone/>
            </a:pPr>
            <a:r>
              <a:rPr lang="en-US" sz="17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/profile/change_avatar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89"/>
          <p:cNvSpPr/>
          <p:nvPr/>
        </p:nvSpPr>
        <p:spPr>
          <a:xfrm>
            <a:off x="6565392" y="3840480"/>
            <a:ext cx="51206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허용 목록 검증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AJAX로 즉시 반영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89"/>
          <p:cNvSpPr/>
          <p:nvPr/>
        </p:nvSpPr>
        <p:spPr>
          <a:xfrm>
            <a:off x="12234672" y="2468880"/>
            <a:ext cx="548640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89"/>
          <p:cNvSpPr/>
          <p:nvPr/>
        </p:nvSpPr>
        <p:spPr>
          <a:xfrm>
            <a:off x="12234672" y="2468880"/>
            <a:ext cx="5486400" cy="58521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89"/>
          <p:cNvSpPr/>
          <p:nvPr/>
        </p:nvSpPr>
        <p:spPr>
          <a:xfrm>
            <a:off x="16587216" y="3236976"/>
            <a:ext cx="914400" cy="438912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89"/>
          <p:cNvSpPr/>
          <p:nvPr/>
        </p:nvSpPr>
        <p:spPr>
          <a:xfrm>
            <a:off x="16587216" y="3236976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89"/>
          <p:cNvSpPr/>
          <p:nvPr/>
        </p:nvSpPr>
        <p:spPr>
          <a:xfrm>
            <a:off x="12454128" y="2468880"/>
            <a:ext cx="40233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닉네임 변경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89"/>
          <p:cNvSpPr/>
          <p:nvPr/>
        </p:nvSpPr>
        <p:spPr>
          <a:xfrm>
            <a:off x="12454128" y="3236976"/>
            <a:ext cx="40233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Courier New"/>
              <a:buNone/>
            </a:pPr>
            <a:r>
              <a:rPr lang="en-US" sz="17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/profile/change_nickname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89"/>
          <p:cNvSpPr/>
          <p:nvPr/>
        </p:nvSpPr>
        <p:spPr>
          <a:xfrm>
            <a:off x="12454128" y="3840480"/>
            <a:ext cx="51206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중복 확인 후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세션 닉네임도 업데이트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89"/>
          <p:cNvSpPr/>
          <p:nvPr/>
        </p:nvSpPr>
        <p:spPr>
          <a:xfrm>
            <a:off x="457200" y="6217920"/>
            <a:ext cx="548640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89"/>
          <p:cNvSpPr/>
          <p:nvPr/>
        </p:nvSpPr>
        <p:spPr>
          <a:xfrm>
            <a:off x="457200" y="6217920"/>
            <a:ext cx="5486400" cy="58521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89"/>
          <p:cNvSpPr/>
          <p:nvPr/>
        </p:nvSpPr>
        <p:spPr>
          <a:xfrm>
            <a:off x="4809744" y="6986016"/>
            <a:ext cx="914400" cy="438912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89"/>
          <p:cNvSpPr/>
          <p:nvPr/>
        </p:nvSpPr>
        <p:spPr>
          <a:xfrm>
            <a:off x="4809744" y="6986016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AJAX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89"/>
          <p:cNvSpPr/>
          <p:nvPr/>
        </p:nvSpPr>
        <p:spPr>
          <a:xfrm>
            <a:off x="676656" y="6217920"/>
            <a:ext cx="40233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비밀번호 변경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89"/>
          <p:cNvSpPr/>
          <p:nvPr/>
        </p:nvSpPr>
        <p:spPr>
          <a:xfrm>
            <a:off x="676656" y="6986016"/>
            <a:ext cx="40233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Courier New"/>
              <a:buNone/>
            </a:pPr>
            <a:r>
              <a:rPr lang="en-US" sz="17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/profile/change_password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89"/>
          <p:cNvSpPr/>
          <p:nvPr/>
        </p:nvSpPr>
        <p:spPr>
          <a:xfrm>
            <a:off x="676656" y="7589520"/>
            <a:ext cx="51206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현재 비번 검증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bcrypt 재해싱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89"/>
          <p:cNvSpPr/>
          <p:nvPr/>
        </p:nvSpPr>
        <p:spPr>
          <a:xfrm>
            <a:off x="6345936" y="6217920"/>
            <a:ext cx="548640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89"/>
          <p:cNvSpPr/>
          <p:nvPr/>
        </p:nvSpPr>
        <p:spPr>
          <a:xfrm>
            <a:off x="6345936" y="6217920"/>
            <a:ext cx="5486400" cy="585216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89"/>
          <p:cNvSpPr/>
          <p:nvPr/>
        </p:nvSpPr>
        <p:spPr>
          <a:xfrm>
            <a:off x="10698480" y="6986016"/>
            <a:ext cx="914400" cy="438912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89"/>
          <p:cNvSpPr/>
          <p:nvPr/>
        </p:nvSpPr>
        <p:spPr>
          <a:xfrm>
            <a:off x="10698480" y="6986016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89"/>
          <p:cNvSpPr/>
          <p:nvPr/>
        </p:nvSpPr>
        <p:spPr>
          <a:xfrm>
            <a:off x="6565392" y="6217920"/>
            <a:ext cx="40233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이메일 변경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89"/>
          <p:cNvSpPr/>
          <p:nvPr/>
        </p:nvSpPr>
        <p:spPr>
          <a:xfrm>
            <a:off x="6565392" y="6986016"/>
            <a:ext cx="40233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Courier New"/>
              <a:buNone/>
            </a:pPr>
            <a:r>
              <a:rPr lang="en-US" sz="17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/profile/change_email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89"/>
          <p:cNvSpPr/>
          <p:nvPr/>
        </p:nvSpPr>
        <p:spPr>
          <a:xfrm>
            <a:off x="6565392" y="7589520"/>
            <a:ext cx="51206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형식 검증 + 중복 확인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후 DB 업데이트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89"/>
          <p:cNvSpPr/>
          <p:nvPr/>
        </p:nvSpPr>
        <p:spPr>
          <a:xfrm>
            <a:off x="12234672" y="6217920"/>
            <a:ext cx="548640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89"/>
          <p:cNvSpPr/>
          <p:nvPr/>
        </p:nvSpPr>
        <p:spPr>
          <a:xfrm>
            <a:off x="12234672" y="6217920"/>
            <a:ext cx="5486400" cy="585216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89"/>
          <p:cNvSpPr/>
          <p:nvPr/>
        </p:nvSpPr>
        <p:spPr>
          <a:xfrm>
            <a:off x="16587216" y="6986016"/>
            <a:ext cx="914400" cy="438912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89"/>
          <p:cNvSpPr/>
          <p:nvPr/>
        </p:nvSpPr>
        <p:spPr>
          <a:xfrm>
            <a:off x="16587216" y="6986016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89"/>
          <p:cNvSpPr/>
          <p:nvPr/>
        </p:nvSpPr>
        <p:spPr>
          <a:xfrm>
            <a:off x="12454128" y="6217920"/>
            <a:ext cx="40233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회원 탈퇴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89"/>
          <p:cNvSpPr/>
          <p:nvPr/>
        </p:nvSpPr>
        <p:spPr>
          <a:xfrm>
            <a:off x="12454128" y="6986016"/>
            <a:ext cx="40233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Courier New"/>
              <a:buNone/>
            </a:pPr>
            <a:r>
              <a:rPr lang="en-US" sz="17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/profile/delete_account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89"/>
          <p:cNvSpPr/>
          <p:nvPr/>
        </p:nvSpPr>
        <p:spPr>
          <a:xfrm>
            <a:off x="12454128" y="7589520"/>
            <a:ext cx="51206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비번 확인 후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관련 데이터 순차 삭제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89"/>
          <p:cNvSpPr/>
          <p:nvPr/>
        </p:nvSpPr>
        <p:spPr>
          <a:xfrm>
            <a:off x="457200" y="9473184"/>
            <a:ext cx="17373600" cy="457200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89"/>
          <p:cNvSpPr/>
          <p:nvPr/>
        </p:nvSpPr>
        <p:spPr>
          <a:xfrm>
            <a:off x="731520" y="9473184"/>
            <a:ext cx="16824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AJAX 응답: jsonify()  |  일반 POST 응답: redirect()  |  공통: 세션 로그인 확인 → 미로그인 시 로그인 페이지로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90"/>
          <p:cNvSpPr/>
          <p:nvPr/>
        </p:nvSpPr>
        <p:spPr>
          <a:xfrm>
            <a:off x="0" y="0"/>
            <a:ext cx="18288000" cy="128016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90"/>
          <p:cNvSpPr/>
          <p:nvPr/>
        </p:nvSpPr>
        <p:spPr>
          <a:xfrm>
            <a:off x="731520" y="0"/>
            <a:ext cx="16824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Profile — 핵심 코드 (AJAX 처리 &amp; 보안)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90"/>
          <p:cNvSpPr/>
          <p:nvPr/>
        </p:nvSpPr>
        <p:spPr>
          <a:xfrm>
            <a:off x="457200" y="1554480"/>
            <a:ext cx="8412480" cy="420624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90"/>
          <p:cNvSpPr/>
          <p:nvPr/>
        </p:nvSpPr>
        <p:spPr>
          <a:xfrm>
            <a:off x="457200" y="1554480"/>
            <a:ext cx="8412480" cy="54864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90"/>
          <p:cNvSpPr/>
          <p:nvPr/>
        </p:nvSpPr>
        <p:spPr>
          <a:xfrm>
            <a:off x="457200" y="1554480"/>
            <a:ext cx="128016" cy="420624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90"/>
          <p:cNvSpPr/>
          <p:nvPr/>
        </p:nvSpPr>
        <p:spPr>
          <a:xfrm>
            <a:off x="786384" y="155448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profile.py — 아바타 변경 (화이트리스트 검증)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90"/>
          <p:cNvSpPr/>
          <p:nvPr/>
        </p:nvSpPr>
        <p:spPr>
          <a:xfrm>
            <a:off x="822960" y="2194560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ALLOWED_AVATARS = {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90"/>
          <p:cNvSpPr/>
          <p:nvPr/>
        </p:nvSpPr>
        <p:spPr>
          <a:xfrm>
            <a:off x="822960" y="2545690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  "🧑‍💼", "😎", "🤖", "🚀" ...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90"/>
          <p:cNvSpPr/>
          <p:nvPr/>
        </p:nvSpPr>
        <p:spPr>
          <a:xfrm>
            <a:off x="822960" y="2896820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}  # 허용된 아바타만 저장 가능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90"/>
          <p:cNvSpPr/>
          <p:nvPr/>
        </p:nvSpPr>
        <p:spPr>
          <a:xfrm>
            <a:off x="822960" y="3247948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90"/>
          <p:cNvSpPr/>
          <p:nvPr/>
        </p:nvSpPr>
        <p:spPr>
          <a:xfrm>
            <a:off x="822960" y="3599078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def change_avatar():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90"/>
          <p:cNvSpPr/>
          <p:nvPr/>
        </p:nvSpPr>
        <p:spPr>
          <a:xfrm>
            <a:off x="822960" y="3950208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avatar = data.get("avatar").strip()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90"/>
          <p:cNvSpPr/>
          <p:nvPr/>
        </p:nvSpPr>
        <p:spPr>
          <a:xfrm>
            <a:off x="822960" y="4301338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    if avatar not in ALLOWED_AVATARS: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90"/>
          <p:cNvSpPr/>
          <p:nvPr/>
        </p:nvSpPr>
        <p:spPr>
          <a:xfrm>
            <a:off x="822960" y="4652468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jsonify({"status":"error"}), 400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90"/>
          <p:cNvSpPr/>
          <p:nvPr/>
        </p:nvSpPr>
        <p:spPr>
          <a:xfrm>
            <a:off x="822960" y="5003596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  # 검증 통과 → DB 업데이트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90"/>
          <p:cNvSpPr/>
          <p:nvPr/>
        </p:nvSpPr>
        <p:spPr>
          <a:xfrm>
            <a:off x="822960" y="5354726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    session["avatar"] = avatar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90"/>
          <p:cNvSpPr/>
          <p:nvPr/>
        </p:nvSpPr>
        <p:spPr>
          <a:xfrm>
            <a:off x="457200" y="6035040"/>
            <a:ext cx="8412480" cy="1371600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90"/>
          <p:cNvSpPr/>
          <p:nvPr/>
        </p:nvSpPr>
        <p:spPr>
          <a:xfrm>
            <a:off x="731520" y="6071616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✅  AJAX 방식이란?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90"/>
          <p:cNvSpPr/>
          <p:nvPr/>
        </p:nvSpPr>
        <p:spPr>
          <a:xfrm>
            <a:off x="731520" y="658368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페이지 새로고침 없이 서버와 통신 → jsonify()로 JSON 반환 → JS가 받아서 화면만 업데이트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90"/>
          <p:cNvSpPr/>
          <p:nvPr/>
        </p:nvSpPr>
        <p:spPr>
          <a:xfrm>
            <a:off x="9418320" y="1554480"/>
            <a:ext cx="8412480" cy="420624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90"/>
          <p:cNvSpPr/>
          <p:nvPr/>
        </p:nvSpPr>
        <p:spPr>
          <a:xfrm>
            <a:off x="9418320" y="1554480"/>
            <a:ext cx="8412480" cy="54864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90"/>
          <p:cNvSpPr/>
          <p:nvPr/>
        </p:nvSpPr>
        <p:spPr>
          <a:xfrm>
            <a:off x="9418320" y="1554480"/>
            <a:ext cx="128016" cy="420624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90"/>
          <p:cNvSpPr/>
          <p:nvPr/>
        </p:nvSpPr>
        <p:spPr>
          <a:xfrm>
            <a:off x="9747504" y="155448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profile.py — 비밀번호 변경 (3단계 검증)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90"/>
          <p:cNvSpPr/>
          <p:nvPr/>
        </p:nvSpPr>
        <p:spPr>
          <a:xfrm>
            <a:off x="9784080" y="2194560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def change_password():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90"/>
          <p:cNvSpPr/>
          <p:nvPr/>
        </p:nvSpPr>
        <p:spPr>
          <a:xfrm>
            <a:off x="9784080" y="2545690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  # 1. 새 비번 일치 확인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90"/>
          <p:cNvSpPr/>
          <p:nvPr/>
        </p:nvSpPr>
        <p:spPr>
          <a:xfrm>
            <a:off x="9784080" y="2896820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    if new_pw != confirm_pw: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90"/>
          <p:cNvSpPr/>
          <p:nvPr/>
        </p:nvSpPr>
        <p:spPr>
          <a:xfrm>
            <a:off x="9784080" y="3247948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jsonify({"status":"error"}), 400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90"/>
          <p:cNvSpPr/>
          <p:nvPr/>
        </p:nvSpPr>
        <p:spPr>
          <a:xfrm>
            <a:off x="9784080" y="3599078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  # 2. 최소 길이 확인 (8자 이상)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90"/>
          <p:cNvSpPr/>
          <p:nvPr/>
        </p:nvSpPr>
        <p:spPr>
          <a:xfrm>
            <a:off x="9784080" y="3950208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    if len(new_pw) &lt; 8: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90"/>
          <p:cNvSpPr/>
          <p:nvPr/>
        </p:nvSpPr>
        <p:spPr>
          <a:xfrm>
            <a:off x="9784080" y="4301338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jsonify({"status":"error"}), 400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90"/>
          <p:cNvSpPr/>
          <p:nvPr/>
        </p:nvSpPr>
        <p:spPr>
          <a:xfrm>
            <a:off x="9784080" y="4652468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  # 3. 현재 비번 bcrypt 검증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90"/>
          <p:cNvSpPr/>
          <p:nvPr/>
        </p:nvSpPr>
        <p:spPr>
          <a:xfrm>
            <a:off x="9784080" y="5003596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    if not bcrypt.checkpw(current_pw, hash):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90"/>
          <p:cNvSpPr/>
          <p:nvPr/>
        </p:nvSpPr>
        <p:spPr>
          <a:xfrm>
            <a:off x="9784080" y="5354726"/>
            <a:ext cx="7900416" cy="35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jsonify({"status":"error"}), 400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90"/>
          <p:cNvSpPr/>
          <p:nvPr/>
        </p:nvSpPr>
        <p:spPr>
          <a:xfrm>
            <a:off x="9418320" y="6035040"/>
            <a:ext cx="8412480" cy="137160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90"/>
          <p:cNvSpPr/>
          <p:nvPr/>
        </p:nvSpPr>
        <p:spPr>
          <a:xfrm>
            <a:off x="9692640" y="6071616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변경 완료 후 — 보안상 세션 강제 초기화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90"/>
          <p:cNvSpPr/>
          <p:nvPr/>
        </p:nvSpPr>
        <p:spPr>
          <a:xfrm>
            <a:off x="9692640" y="6620256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100"/>
              <a:buFont typeface="Courier New"/>
              <a:buNone/>
            </a:pPr>
            <a:r>
              <a:rPr lang="en-US" sz="21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session.clear()  →  다시 로그인 유도 (redirect_url 반환)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90"/>
          <p:cNvSpPr/>
          <p:nvPr/>
        </p:nvSpPr>
        <p:spPr>
          <a:xfrm>
            <a:off x="457200" y="7680960"/>
            <a:ext cx="17373600" cy="2231136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90"/>
          <p:cNvSpPr/>
          <p:nvPr/>
        </p:nvSpPr>
        <p:spPr>
          <a:xfrm>
            <a:off x="822960" y="7772400"/>
            <a:ext cx="1645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응답 방식 비교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90"/>
          <p:cNvSpPr/>
          <p:nvPr/>
        </p:nvSpPr>
        <p:spPr>
          <a:xfrm>
            <a:off x="731520" y="8412480"/>
            <a:ext cx="5303520" cy="1280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90"/>
          <p:cNvSpPr/>
          <p:nvPr/>
        </p:nvSpPr>
        <p:spPr>
          <a:xfrm>
            <a:off x="914400" y="8449056"/>
            <a:ext cx="4937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아바타·비번 변경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90"/>
          <p:cNvSpPr/>
          <p:nvPr/>
        </p:nvSpPr>
        <p:spPr>
          <a:xfrm>
            <a:off x="914400" y="8924544"/>
            <a:ext cx="49377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AJAX (jsonify)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90"/>
          <p:cNvSpPr/>
          <p:nvPr/>
        </p:nvSpPr>
        <p:spPr>
          <a:xfrm>
            <a:off x="6492240" y="8412480"/>
            <a:ext cx="5303520" cy="1280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90"/>
          <p:cNvSpPr/>
          <p:nvPr/>
        </p:nvSpPr>
        <p:spPr>
          <a:xfrm>
            <a:off x="6675120" y="8449056"/>
            <a:ext cx="4937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닉네임·이메일 변경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90"/>
          <p:cNvSpPr/>
          <p:nvPr/>
        </p:nvSpPr>
        <p:spPr>
          <a:xfrm>
            <a:off x="6675120" y="8924544"/>
            <a:ext cx="49377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일반 POST (redirect)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90"/>
          <p:cNvSpPr/>
          <p:nvPr/>
        </p:nvSpPr>
        <p:spPr>
          <a:xfrm>
            <a:off x="12252960" y="8412480"/>
            <a:ext cx="5303520" cy="1280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90"/>
          <p:cNvSpPr/>
          <p:nvPr/>
        </p:nvSpPr>
        <p:spPr>
          <a:xfrm>
            <a:off x="12435840" y="8449056"/>
            <a:ext cx="4937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회원 탈퇴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90"/>
          <p:cNvSpPr/>
          <p:nvPr/>
        </p:nvSpPr>
        <p:spPr>
          <a:xfrm>
            <a:off x="12435840" y="8924544"/>
            <a:ext cx="49377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일반 POST (redirect)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91"/>
          <p:cNvSpPr/>
          <p:nvPr/>
        </p:nvSpPr>
        <p:spPr>
          <a:xfrm>
            <a:off x="0" y="0"/>
            <a:ext cx="18288000" cy="128016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91"/>
          <p:cNvSpPr/>
          <p:nvPr/>
        </p:nvSpPr>
        <p:spPr>
          <a:xfrm>
            <a:off x="731520" y="0"/>
            <a:ext cx="16824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Profile — 회원 탈퇴 &amp; 데이터 삭제 순서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91"/>
          <p:cNvSpPr/>
          <p:nvPr/>
        </p:nvSpPr>
        <p:spPr>
          <a:xfrm>
            <a:off x="457200" y="1554480"/>
            <a:ext cx="7863840" cy="8449056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91"/>
          <p:cNvSpPr/>
          <p:nvPr/>
        </p:nvSpPr>
        <p:spPr>
          <a:xfrm>
            <a:off x="822960" y="1737360"/>
            <a:ext cx="713232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왜 순서가 중요한가?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91"/>
          <p:cNvSpPr/>
          <p:nvPr/>
        </p:nvSpPr>
        <p:spPr>
          <a:xfrm>
            <a:off x="822960" y="2523744"/>
            <a:ext cx="7132320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DB 외래키(FK) 제약 때문에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자식 테이블을 먼저 지워야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부모(users) 삭제가 가능해요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91"/>
          <p:cNvSpPr/>
          <p:nvPr/>
        </p:nvSpPr>
        <p:spPr>
          <a:xfrm>
            <a:off x="731520" y="4114800"/>
            <a:ext cx="768096" cy="950976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91"/>
          <p:cNvSpPr/>
          <p:nvPr/>
        </p:nvSpPr>
        <p:spPr>
          <a:xfrm>
            <a:off x="731520" y="4114800"/>
            <a:ext cx="768096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91"/>
          <p:cNvSpPr/>
          <p:nvPr/>
        </p:nvSpPr>
        <p:spPr>
          <a:xfrm>
            <a:off x="1737360" y="4242816"/>
            <a:ext cx="3657600" cy="694944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91"/>
          <p:cNvSpPr/>
          <p:nvPr/>
        </p:nvSpPr>
        <p:spPr>
          <a:xfrm>
            <a:off x="1737360" y="4242816"/>
            <a:ext cx="36576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 b="1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trades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91"/>
          <p:cNvSpPr/>
          <p:nvPr/>
        </p:nvSpPr>
        <p:spPr>
          <a:xfrm>
            <a:off x="5577840" y="4242816"/>
            <a:ext cx="24688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거래 내역 삭제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91"/>
          <p:cNvSpPr/>
          <p:nvPr/>
        </p:nvSpPr>
        <p:spPr>
          <a:xfrm>
            <a:off x="877824" y="5102352"/>
            <a:ext cx="5120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91"/>
          <p:cNvSpPr/>
          <p:nvPr/>
        </p:nvSpPr>
        <p:spPr>
          <a:xfrm>
            <a:off x="731520" y="5486400"/>
            <a:ext cx="768096" cy="950976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91"/>
          <p:cNvSpPr/>
          <p:nvPr/>
        </p:nvSpPr>
        <p:spPr>
          <a:xfrm>
            <a:off x="731520" y="5486400"/>
            <a:ext cx="768096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91"/>
          <p:cNvSpPr/>
          <p:nvPr/>
        </p:nvSpPr>
        <p:spPr>
          <a:xfrm>
            <a:off x="1737360" y="5614416"/>
            <a:ext cx="3657600" cy="694944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91"/>
          <p:cNvSpPr/>
          <p:nvPr/>
        </p:nvSpPr>
        <p:spPr>
          <a:xfrm>
            <a:off x="1737360" y="5614416"/>
            <a:ext cx="36576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Courier New"/>
              <a:buNone/>
            </a:pPr>
            <a:r>
              <a:rPr lang="en-US" sz="2000" b="1">
                <a:solidFill>
                  <a:srgbClr val="D97706"/>
                </a:solidFill>
                <a:latin typeface="Courier New"/>
                <a:ea typeface="Courier New"/>
                <a:cs typeface="Courier New"/>
                <a:sym typeface="Courier New"/>
              </a:rPr>
              <a:t>portfolio_holdings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91"/>
          <p:cNvSpPr/>
          <p:nvPr/>
        </p:nvSpPr>
        <p:spPr>
          <a:xfrm>
            <a:off x="5577840" y="5614416"/>
            <a:ext cx="24688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보유 종목 삭제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91"/>
          <p:cNvSpPr/>
          <p:nvPr/>
        </p:nvSpPr>
        <p:spPr>
          <a:xfrm>
            <a:off x="877824" y="6473952"/>
            <a:ext cx="5120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91"/>
          <p:cNvSpPr/>
          <p:nvPr/>
        </p:nvSpPr>
        <p:spPr>
          <a:xfrm>
            <a:off x="731520" y="6858000"/>
            <a:ext cx="768096" cy="95097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91"/>
          <p:cNvSpPr/>
          <p:nvPr/>
        </p:nvSpPr>
        <p:spPr>
          <a:xfrm>
            <a:off x="731520" y="6858000"/>
            <a:ext cx="768096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91"/>
          <p:cNvSpPr/>
          <p:nvPr/>
        </p:nvSpPr>
        <p:spPr>
          <a:xfrm>
            <a:off x="1737360" y="6986016"/>
            <a:ext cx="3657600" cy="694944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91"/>
          <p:cNvSpPr/>
          <p:nvPr/>
        </p:nvSpPr>
        <p:spPr>
          <a:xfrm>
            <a:off x="1737360" y="6986016"/>
            <a:ext cx="36576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Courier New"/>
              <a:buNone/>
            </a:pPr>
            <a:r>
              <a:rPr lang="en-US" sz="2000" b="1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mock_accounts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91"/>
          <p:cNvSpPr/>
          <p:nvPr/>
        </p:nvSpPr>
        <p:spPr>
          <a:xfrm>
            <a:off x="5577840" y="6986016"/>
            <a:ext cx="24688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모의계좌 삭제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91"/>
          <p:cNvSpPr/>
          <p:nvPr/>
        </p:nvSpPr>
        <p:spPr>
          <a:xfrm>
            <a:off x="877824" y="7845552"/>
            <a:ext cx="5120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91"/>
          <p:cNvSpPr/>
          <p:nvPr/>
        </p:nvSpPr>
        <p:spPr>
          <a:xfrm>
            <a:off x="731520" y="8229600"/>
            <a:ext cx="768096" cy="950976"/>
          </a:xfrm>
          <a:prstGeom prst="rect">
            <a:avLst/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91"/>
          <p:cNvSpPr/>
          <p:nvPr/>
        </p:nvSpPr>
        <p:spPr>
          <a:xfrm>
            <a:off x="731520" y="8229600"/>
            <a:ext cx="768096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91"/>
          <p:cNvSpPr/>
          <p:nvPr/>
        </p:nvSpPr>
        <p:spPr>
          <a:xfrm>
            <a:off x="1737360" y="8357616"/>
            <a:ext cx="3657600" cy="694944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91"/>
          <p:cNvSpPr/>
          <p:nvPr/>
        </p:nvSpPr>
        <p:spPr>
          <a:xfrm>
            <a:off x="1737360" y="8357616"/>
            <a:ext cx="36576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000"/>
              <a:buFont typeface="Courier New"/>
              <a:buNone/>
            </a:pPr>
            <a:r>
              <a:rPr lang="en-US" sz="2000" b="1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91"/>
          <p:cNvSpPr/>
          <p:nvPr/>
        </p:nvSpPr>
        <p:spPr>
          <a:xfrm>
            <a:off x="5577840" y="8357616"/>
            <a:ext cx="24688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회원 정보 삭제 (최종)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91"/>
          <p:cNvSpPr/>
          <p:nvPr/>
        </p:nvSpPr>
        <p:spPr>
          <a:xfrm>
            <a:off x="8686800" y="1554480"/>
            <a:ext cx="9144000" cy="557784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91"/>
          <p:cNvSpPr/>
          <p:nvPr/>
        </p:nvSpPr>
        <p:spPr>
          <a:xfrm>
            <a:off x="8686800" y="1554480"/>
            <a:ext cx="9144000" cy="54864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91"/>
          <p:cNvSpPr/>
          <p:nvPr/>
        </p:nvSpPr>
        <p:spPr>
          <a:xfrm>
            <a:off x="8686800" y="1554480"/>
            <a:ext cx="128016" cy="557784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91"/>
          <p:cNvSpPr/>
          <p:nvPr/>
        </p:nvSpPr>
        <p:spPr>
          <a:xfrm>
            <a:off x="9015984" y="15544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profile.py — delete_account()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91"/>
          <p:cNvSpPr/>
          <p:nvPr/>
        </p:nvSpPr>
        <p:spPr>
          <a:xfrm>
            <a:off x="9052560" y="2194560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def delete_account():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91"/>
          <p:cNvSpPr/>
          <p:nvPr/>
        </p:nvSpPr>
        <p:spPr>
          <a:xfrm>
            <a:off x="9052560" y="2520086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password = request.form.get("delete_password")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91"/>
          <p:cNvSpPr/>
          <p:nvPr/>
        </p:nvSpPr>
        <p:spPr>
          <a:xfrm>
            <a:off x="9052560" y="2845612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91"/>
          <p:cNvSpPr/>
          <p:nvPr/>
        </p:nvSpPr>
        <p:spPr>
          <a:xfrm>
            <a:off x="9052560" y="3171140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  # 비밀번호 검증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91"/>
          <p:cNvSpPr/>
          <p:nvPr/>
        </p:nvSpPr>
        <p:spPr>
          <a:xfrm>
            <a:off x="9052560" y="3496666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    if not bcrypt.checkpw(password, hash):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91"/>
          <p:cNvSpPr/>
          <p:nvPr/>
        </p:nvSpPr>
        <p:spPr>
          <a:xfrm>
            <a:off x="9052560" y="3822192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_render_with_error(...)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91"/>
          <p:cNvSpPr/>
          <p:nvPr/>
        </p:nvSpPr>
        <p:spPr>
          <a:xfrm>
            <a:off x="9052560" y="4147718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91"/>
          <p:cNvSpPr/>
          <p:nvPr/>
        </p:nvSpPr>
        <p:spPr>
          <a:xfrm>
            <a:off x="9052560" y="4473244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  # 순서대로 삭제 (FK 제약 준수)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91"/>
          <p:cNvSpPr/>
          <p:nvPr/>
        </p:nvSpPr>
        <p:spPr>
          <a:xfrm>
            <a:off x="9052560" y="4798772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   cur.execute("DELETE FROM trades WHERE user_id=%s")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91"/>
          <p:cNvSpPr/>
          <p:nvPr/>
        </p:nvSpPr>
        <p:spPr>
          <a:xfrm>
            <a:off x="9052560" y="5124298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D97706"/>
                </a:solidFill>
                <a:latin typeface="Courier New"/>
                <a:ea typeface="Courier New"/>
                <a:cs typeface="Courier New"/>
                <a:sym typeface="Courier New"/>
              </a:rPr>
              <a:t>    cur.execute("DELETE FROM portfolio_holdings ...")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91"/>
          <p:cNvSpPr/>
          <p:nvPr/>
        </p:nvSpPr>
        <p:spPr>
          <a:xfrm>
            <a:off x="9052560" y="5449824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    cur.execute("DELETE FROM mock_accounts ...")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91"/>
          <p:cNvSpPr/>
          <p:nvPr/>
        </p:nvSpPr>
        <p:spPr>
          <a:xfrm>
            <a:off x="9052560" y="5775350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    cur.execute("DELETE FROM users WHERE id=%s")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91"/>
          <p:cNvSpPr/>
          <p:nvPr/>
        </p:nvSpPr>
        <p:spPr>
          <a:xfrm>
            <a:off x="9052560" y="6100876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91"/>
          <p:cNvSpPr/>
          <p:nvPr/>
        </p:nvSpPr>
        <p:spPr>
          <a:xfrm>
            <a:off x="9052560" y="6426404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  session.clear()  # 세션 초기화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91"/>
          <p:cNvSpPr/>
          <p:nvPr/>
        </p:nvSpPr>
        <p:spPr>
          <a:xfrm>
            <a:off x="9052560" y="6751930"/>
            <a:ext cx="8631936" cy="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redirect(url_for("auth_bp.login_page"))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91"/>
          <p:cNvSpPr/>
          <p:nvPr/>
        </p:nvSpPr>
        <p:spPr>
          <a:xfrm>
            <a:off x="8686800" y="7406640"/>
            <a:ext cx="9144000" cy="2596896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91"/>
          <p:cNvSpPr/>
          <p:nvPr/>
        </p:nvSpPr>
        <p:spPr>
          <a:xfrm>
            <a:off x="8686800" y="7406640"/>
            <a:ext cx="9144000" cy="58521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91"/>
          <p:cNvSpPr/>
          <p:nvPr/>
        </p:nvSpPr>
        <p:spPr>
          <a:xfrm>
            <a:off x="8961120" y="7406640"/>
            <a:ext cx="85953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_render_with_error()  헬퍼 함수란?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91"/>
          <p:cNvSpPr/>
          <p:nvPr/>
        </p:nvSpPr>
        <p:spPr>
          <a:xfrm>
            <a:off x="8961120" y="8083296"/>
            <a:ext cx="85953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100"/>
              <a:buFont typeface="Calibri"/>
              <a:buNone/>
            </a:pPr>
            <a:r>
              <a:rPr lang="en-US" sz="2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에러 발생 시 DB에서 user_info를 다시 조회해서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100"/>
              <a:buFont typeface="Calibri"/>
              <a:buNone/>
            </a:pPr>
            <a:r>
              <a:rPr lang="en-US" sz="2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profile.html을 에러 메시지와 함께 재렌더링하는 내부 함수예요.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100"/>
              <a:buFont typeface="Calibri"/>
              <a:buNone/>
            </a:pPr>
            <a:r>
              <a:rPr lang="en-US" sz="2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닉네임·이메일·탈퇴 기능에서 공통으로 사용해요.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92"/>
          <p:cNvSpPr txBox="1"/>
          <p:nvPr/>
        </p:nvSpPr>
        <p:spPr>
          <a:xfrm>
            <a:off x="5942690" y="927000"/>
            <a:ext cx="62484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AI QUANT</a:t>
            </a: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총평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92"/>
          <p:cNvSpPr/>
          <p:nvPr/>
        </p:nvSpPr>
        <p:spPr>
          <a:xfrm>
            <a:off x="574367" y="1737375"/>
            <a:ext cx="5300400" cy="7955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92"/>
          <p:cNvSpPr/>
          <p:nvPr/>
        </p:nvSpPr>
        <p:spPr>
          <a:xfrm>
            <a:off x="574367" y="1737375"/>
            <a:ext cx="5300400" cy="75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92"/>
          <p:cNvSpPr/>
          <p:nvPr/>
        </p:nvSpPr>
        <p:spPr>
          <a:xfrm>
            <a:off x="830410" y="1828800"/>
            <a:ext cx="50445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잘한 점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92"/>
          <p:cNvSpPr/>
          <p:nvPr/>
        </p:nvSpPr>
        <p:spPr>
          <a:xfrm>
            <a:off x="1342466" y="2889500"/>
            <a:ext cx="43173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000">
                <a:solidFill>
                  <a:schemeClr val="dk1"/>
                </a:solidFill>
              </a:rPr>
              <a:t>실제 투자 흐름을 반영한 서비스 구조</a:t>
            </a:r>
            <a:endParaRPr sz="17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456" name="Google Shape;1456;p92"/>
          <p:cNvSpPr/>
          <p:nvPr/>
        </p:nvSpPr>
        <p:spPr>
          <a:xfrm>
            <a:off x="1342466" y="3840475"/>
            <a:ext cx="4342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AI와 퀀트 전략을 결합한 서비스</a:t>
            </a:r>
            <a:endParaRPr sz="21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92"/>
          <p:cNvSpPr/>
          <p:nvPr/>
        </p:nvSpPr>
        <p:spPr>
          <a:xfrm>
            <a:off x="1342466" y="4791475"/>
            <a:ext cx="43173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사용자 참여 기능 구현</a:t>
            </a:r>
            <a:endParaRPr sz="21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92"/>
          <p:cNvSpPr/>
          <p:nvPr/>
        </p:nvSpPr>
        <p:spPr>
          <a:xfrm>
            <a:off x="1342466" y="5742450"/>
            <a:ext cx="43173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팀원 모두 적극적으로 참여한 </a:t>
            </a:r>
            <a:endParaRPr sz="2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협업 환경</a:t>
            </a:r>
            <a:endParaRPr sz="21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92"/>
          <p:cNvSpPr/>
          <p:nvPr/>
        </p:nvSpPr>
        <p:spPr>
          <a:xfrm>
            <a:off x="6519014" y="1737375"/>
            <a:ext cx="5300400" cy="7955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92"/>
          <p:cNvSpPr/>
          <p:nvPr/>
        </p:nvSpPr>
        <p:spPr>
          <a:xfrm>
            <a:off x="6519014" y="1737375"/>
            <a:ext cx="5300400" cy="75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92"/>
          <p:cNvSpPr/>
          <p:nvPr/>
        </p:nvSpPr>
        <p:spPr>
          <a:xfrm>
            <a:off x="6775058" y="1828800"/>
            <a:ext cx="50445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아쉬운 점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92"/>
          <p:cNvSpPr/>
          <p:nvPr/>
        </p:nvSpPr>
        <p:spPr>
          <a:xfrm>
            <a:off x="7287113" y="2889500"/>
            <a:ext cx="43173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전략 종류의 제한</a:t>
            </a:r>
            <a:endParaRPr sz="21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92"/>
          <p:cNvSpPr/>
          <p:nvPr/>
        </p:nvSpPr>
        <p:spPr>
          <a:xfrm>
            <a:off x="7287113" y="3840475"/>
            <a:ext cx="4342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AI 분석 데이터의 한계</a:t>
            </a:r>
            <a:endParaRPr sz="21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92"/>
          <p:cNvSpPr/>
          <p:nvPr/>
        </p:nvSpPr>
        <p:spPr>
          <a:xfrm>
            <a:off x="7287113" y="4791475"/>
            <a:ext cx="43173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실시간 데이터 처리의 한계</a:t>
            </a:r>
            <a:endParaRPr sz="21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92"/>
          <p:cNvSpPr/>
          <p:nvPr/>
        </p:nvSpPr>
        <p:spPr>
          <a:xfrm>
            <a:off x="12386392" y="1737375"/>
            <a:ext cx="5300400" cy="7955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6" name="Google Shape;1466;p92"/>
          <p:cNvSpPr/>
          <p:nvPr/>
        </p:nvSpPr>
        <p:spPr>
          <a:xfrm>
            <a:off x="12386392" y="1737375"/>
            <a:ext cx="5300400" cy="750000"/>
          </a:xfrm>
          <a:prstGeom prst="rect">
            <a:avLst/>
          </a:prstGeom>
          <a:solidFill>
            <a:srgbClr val="2E6EE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7" name="Google Shape;1467;p92"/>
          <p:cNvSpPr/>
          <p:nvPr/>
        </p:nvSpPr>
        <p:spPr>
          <a:xfrm>
            <a:off x="12642435" y="1828800"/>
            <a:ext cx="50445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개선점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92"/>
          <p:cNvSpPr/>
          <p:nvPr/>
        </p:nvSpPr>
        <p:spPr>
          <a:xfrm>
            <a:off x="13154491" y="2889500"/>
            <a:ext cx="43173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전략 다양화</a:t>
            </a:r>
            <a:endParaRPr sz="21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92"/>
          <p:cNvSpPr/>
          <p:nvPr/>
        </p:nvSpPr>
        <p:spPr>
          <a:xfrm>
            <a:off x="13154491" y="3840475"/>
            <a:ext cx="4342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AI 분석 고도화</a:t>
            </a:r>
            <a:endParaRPr sz="21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92"/>
          <p:cNvSpPr/>
          <p:nvPr/>
        </p:nvSpPr>
        <p:spPr>
          <a:xfrm>
            <a:off x="13154491" y="4791475"/>
            <a:ext cx="43173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사용자 데이터 분석</a:t>
            </a:r>
            <a:endParaRPr sz="21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92"/>
          <p:cNvSpPr/>
          <p:nvPr/>
        </p:nvSpPr>
        <p:spPr>
          <a:xfrm>
            <a:off x="13154491" y="5742450"/>
            <a:ext cx="43173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AI 분석과 퀀트 전략의 결합 강화</a:t>
            </a:r>
            <a:endParaRPr sz="21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92"/>
          <p:cNvSpPr/>
          <p:nvPr/>
        </p:nvSpPr>
        <p:spPr>
          <a:xfrm>
            <a:off x="7267357" y="5742475"/>
            <a:ext cx="43173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장기 투자 전략 검증을 위한 </a:t>
            </a:r>
            <a:endParaRPr sz="2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데이터 부족</a:t>
            </a:r>
            <a:endParaRPr sz="21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92"/>
          <p:cNvSpPr/>
          <p:nvPr/>
        </p:nvSpPr>
        <p:spPr>
          <a:xfrm>
            <a:off x="7241614" y="6693475"/>
            <a:ext cx="43173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100"/>
              <a:buFont typeface="Calibri"/>
              <a:buNone/>
            </a:pPr>
            <a:r>
              <a:rPr lang="en-US" sz="2100">
                <a:solidFill>
                  <a:schemeClr val="dk1"/>
                </a:solidFill>
              </a:rPr>
              <a:t>AI 분석 결과 활용의 한계</a:t>
            </a:r>
            <a:endParaRPr sz="21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8" name="Google Shape;1478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2933640"/>
            <a:ext cx="10401480" cy="62485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93"/>
          <p:cNvSpPr txBox="1"/>
          <p:nvPr/>
        </p:nvSpPr>
        <p:spPr>
          <a:xfrm>
            <a:off x="1359000" y="3594240"/>
            <a:ext cx="6781680" cy="16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r>
              <a:rPr lang="en-US" sz="8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3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93"/>
          <p:cNvSpPr txBox="1"/>
          <p:nvPr/>
        </p:nvSpPr>
        <p:spPr>
          <a:xfrm>
            <a:off x="1308240" y="5168880"/>
            <a:ext cx="7861320" cy="76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93"/>
          <p:cNvSpPr txBox="1"/>
          <p:nvPr/>
        </p:nvSpPr>
        <p:spPr>
          <a:xfrm rot="10800000">
            <a:off x="8636040" y="1193760"/>
            <a:ext cx="1219320" cy="14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sz="9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2" name="Google Shape;1482;p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9639360" y="1930320"/>
            <a:ext cx="3340080" cy="381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93"/>
          <p:cNvSpPr txBox="1"/>
          <p:nvPr/>
        </p:nvSpPr>
        <p:spPr>
          <a:xfrm>
            <a:off x="13195440" y="1650960"/>
            <a:ext cx="3848040" cy="43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현대로템 AI 과정 6기 1팀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5358</Words>
  <Application>Microsoft Office PowerPoint</Application>
  <PresentationFormat>사용자 지정</PresentationFormat>
  <Paragraphs>892</Paragraphs>
  <Slides>64</Slides>
  <Notes>64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64</vt:i4>
      </vt:variant>
    </vt:vector>
  </HeadingPairs>
  <TitlesOfParts>
    <vt:vector size="74" baseType="lpstr">
      <vt:lpstr>Malgun Gothic</vt:lpstr>
      <vt:lpstr>Arial</vt:lpstr>
      <vt:lpstr>Calibri</vt:lpstr>
      <vt:lpstr>Consolas</vt:lpstr>
      <vt:lpstr>Courier New</vt:lpstr>
      <vt:lpstr>Times New Roman</vt:lpstr>
      <vt:lpstr>Office Theme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황수연</dc:creator>
  <cp:lastModifiedBy>황수연/컴퓨터공학부</cp:lastModifiedBy>
  <cp:revision>1</cp:revision>
  <dcterms:modified xsi:type="dcterms:W3CDTF">2026-03-17T09:14:29Z</dcterms:modified>
</cp:coreProperties>
</file>